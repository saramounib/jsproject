
<file path=[Content_Types].xml><?xml version="1.0" encoding="utf-8"?>
<Types xmlns="http://schemas.openxmlformats.org/package/2006/content-types">
  <Default Extension="fntdata" ContentType="application/x-fontdata"/>
  <Default Extension="jfif" ContentType="image/jpeg"/>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60" r:id="rId5"/>
    <p:sldId id="261" r:id="rId6"/>
    <p:sldId id="262" r:id="rId7"/>
    <p:sldId id="263" r:id="rId8"/>
    <p:sldId id="264" r:id="rId9"/>
    <p:sldId id="265" r:id="rId10"/>
    <p:sldId id="266" r:id="rId11"/>
    <p:sldId id="267" r:id="rId12"/>
    <p:sldId id="268" r:id="rId13"/>
  </p:sldIdLst>
  <p:sldSz cx="18288000" cy="10287000"/>
  <p:notesSz cx="6858000" cy="9144000"/>
  <p:embeddedFontLst>
    <p:embeddedFont>
      <p:font typeface="Book Antiqua" panose="02040602050305030304" pitchFamily="18" charset="0"/>
      <p:regular r:id="rId14"/>
      <p:bold r:id="rId15"/>
      <p:italic r:id="rId16"/>
      <p:boldItalic r:id="rId17"/>
    </p:embeddedFont>
    <p:embeddedFont>
      <p:font typeface="Georgia" panose="02040502050405020303" pitchFamily="18" charset="0"/>
      <p:regular r:id="rId18"/>
      <p:bold r:id="rId19"/>
      <p:italic r:id="rId20"/>
      <p:boldItalic r:id="rId21"/>
    </p:embeddedFont>
    <p:embeddedFont>
      <p:font typeface="Inria Serif" panose="020B0604020202020204" charset="0"/>
      <p:regular r:id="rId22"/>
    </p:embeddedFont>
    <p:embeddedFont>
      <p:font typeface="Lucida Bright" panose="02040602050505020304" pitchFamily="18" charset="0"/>
      <p:regular r:id="rId23"/>
      <p:bold r:id="rId24"/>
      <p:italic r:id="rId25"/>
      <p:boldItalic r:id="rId26"/>
    </p:embeddedFont>
    <p:embeddedFont>
      <p:font typeface="Lustria" panose="020B0604020202020204" charset="0"/>
      <p:regular r:id="rId27"/>
    </p:embeddedFont>
    <p:embeddedFont>
      <p:font typeface="Moontime" panose="020B0604020202020204" charset="0"/>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42" d="100"/>
          <a:sy n="42" d="100"/>
        </p:scale>
        <p:origin x="780" y="5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5.fntdata"/><Relationship Id="rId26" Type="http://schemas.openxmlformats.org/officeDocument/2006/relationships/font" Target="fonts/font13.fntdata"/><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font" Target="fonts/font12.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1.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font" Target="fonts/font10.fntdata"/><Relationship Id="rId28" Type="http://schemas.openxmlformats.org/officeDocument/2006/relationships/font" Target="fonts/font15.fntdata"/><Relationship Id="rId10" Type="http://schemas.openxmlformats.org/officeDocument/2006/relationships/slide" Target="slides/slide9.xml"/><Relationship Id="rId19" Type="http://schemas.openxmlformats.org/officeDocument/2006/relationships/font" Target="fonts/font6.fntdata"/><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font" Target="fonts/font14.fntdata"/><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jfif"/></Relationships>
</file>

<file path=ppt/slides/_rels/slide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hyperlink" Target="https://fakestoreapi.com/" TargetMode="Externa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9F5"/>
        </a:solidFill>
        <a:effectLst/>
      </p:bgPr>
    </p:bg>
    <p:spTree>
      <p:nvGrpSpPr>
        <p:cNvPr id="1" name=""/>
        <p:cNvGrpSpPr/>
        <p:nvPr/>
      </p:nvGrpSpPr>
      <p:grpSpPr>
        <a:xfrm>
          <a:off x="0" y="0"/>
          <a:ext cx="0" cy="0"/>
          <a:chOff x="0" y="0"/>
          <a:chExt cx="0" cy="0"/>
        </a:xfrm>
      </p:grpSpPr>
      <p:grpSp>
        <p:nvGrpSpPr>
          <p:cNvPr id="2" name="Group 2"/>
          <p:cNvGrpSpPr/>
          <p:nvPr/>
        </p:nvGrpSpPr>
        <p:grpSpPr>
          <a:xfrm>
            <a:off x="1028700" y="1028700"/>
            <a:ext cx="16230600" cy="8229600"/>
            <a:chOff x="0" y="0"/>
            <a:chExt cx="4274726" cy="2167467"/>
          </a:xfrm>
        </p:grpSpPr>
        <p:sp>
          <p:nvSpPr>
            <p:cNvPr id="3" name="Freeform 3"/>
            <p:cNvSpPr/>
            <p:nvPr/>
          </p:nvSpPr>
          <p:spPr>
            <a:xfrm>
              <a:off x="0" y="0"/>
              <a:ext cx="4274726" cy="2167467"/>
            </a:xfrm>
            <a:custGeom>
              <a:avLst/>
              <a:gdLst/>
              <a:ahLst/>
              <a:cxnLst/>
              <a:rect l="l" t="t" r="r" b="b"/>
              <a:pathLst>
                <a:path w="4274726" h="2167467">
                  <a:moveTo>
                    <a:pt x="0" y="0"/>
                  </a:moveTo>
                  <a:lnTo>
                    <a:pt x="4274726" y="0"/>
                  </a:lnTo>
                  <a:lnTo>
                    <a:pt x="4274726" y="2167467"/>
                  </a:lnTo>
                  <a:lnTo>
                    <a:pt x="0" y="2167467"/>
                  </a:lnTo>
                  <a:close/>
                </a:path>
              </a:pathLst>
            </a:custGeom>
            <a:solidFill>
              <a:srgbClr val="000000">
                <a:alpha val="0"/>
              </a:srgbClr>
            </a:solidFill>
            <a:ln w="19050" cap="sq">
              <a:solidFill>
                <a:srgbClr val="000000"/>
              </a:solidFill>
              <a:prstDash val="solid"/>
              <a:miter/>
            </a:ln>
          </p:spPr>
        </p:sp>
        <p:sp>
          <p:nvSpPr>
            <p:cNvPr id="4" name="TextBox 4"/>
            <p:cNvSpPr txBox="1"/>
            <p:nvPr/>
          </p:nvSpPr>
          <p:spPr>
            <a:xfrm>
              <a:off x="0" y="-38100"/>
              <a:ext cx="4274726" cy="2205567"/>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004804" y="6267948"/>
            <a:ext cx="8570828" cy="1440329"/>
            <a:chOff x="0" y="0"/>
            <a:chExt cx="2257337" cy="379346"/>
          </a:xfrm>
        </p:grpSpPr>
        <p:sp>
          <p:nvSpPr>
            <p:cNvPr id="6" name="Freeform 6"/>
            <p:cNvSpPr/>
            <p:nvPr/>
          </p:nvSpPr>
          <p:spPr>
            <a:xfrm>
              <a:off x="0" y="0"/>
              <a:ext cx="2257337" cy="379346"/>
            </a:xfrm>
            <a:custGeom>
              <a:avLst/>
              <a:gdLst/>
              <a:ahLst/>
              <a:cxnLst/>
              <a:rect l="l" t="t" r="r" b="b"/>
              <a:pathLst>
                <a:path w="2257337" h="379346">
                  <a:moveTo>
                    <a:pt x="0" y="0"/>
                  </a:moveTo>
                  <a:lnTo>
                    <a:pt x="2257337" y="0"/>
                  </a:lnTo>
                  <a:lnTo>
                    <a:pt x="2257337" y="379346"/>
                  </a:lnTo>
                  <a:lnTo>
                    <a:pt x="0" y="379346"/>
                  </a:lnTo>
                  <a:close/>
                </a:path>
              </a:pathLst>
            </a:custGeom>
            <a:solidFill>
              <a:srgbClr val="000000">
                <a:alpha val="0"/>
              </a:srgbClr>
            </a:solidFill>
            <a:ln w="19050" cap="sq">
              <a:solidFill>
                <a:srgbClr val="000000"/>
              </a:solidFill>
              <a:prstDash val="solid"/>
              <a:miter/>
            </a:ln>
          </p:spPr>
        </p:sp>
        <p:sp>
          <p:nvSpPr>
            <p:cNvPr id="7" name="TextBox 7"/>
            <p:cNvSpPr txBox="1"/>
            <p:nvPr/>
          </p:nvSpPr>
          <p:spPr>
            <a:xfrm>
              <a:off x="0" y="-38100"/>
              <a:ext cx="2257337" cy="417446"/>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p:cNvSpPr/>
          <p:nvPr/>
        </p:nvSpPr>
        <p:spPr>
          <a:xfrm>
            <a:off x="1028700" y="2102998"/>
            <a:ext cx="16225683" cy="0"/>
          </a:xfrm>
          <a:prstGeom prst="line">
            <a:avLst/>
          </a:prstGeom>
          <a:ln w="19050" cap="flat">
            <a:solidFill>
              <a:srgbClr val="000000"/>
            </a:solidFill>
            <a:prstDash val="solid"/>
            <a:headEnd type="none" w="sm" len="sm"/>
            <a:tailEnd type="none" w="sm" len="sm"/>
          </a:ln>
        </p:spPr>
      </p:sp>
      <p:sp>
        <p:nvSpPr>
          <p:cNvPr id="9" name="TextBox 9"/>
          <p:cNvSpPr txBox="1"/>
          <p:nvPr/>
        </p:nvSpPr>
        <p:spPr>
          <a:xfrm>
            <a:off x="5153480" y="6147372"/>
            <a:ext cx="8273475" cy="1510031"/>
          </a:xfrm>
          <a:prstGeom prst="rect">
            <a:avLst/>
          </a:prstGeom>
        </p:spPr>
        <p:txBody>
          <a:bodyPr lIns="0" tIns="0" rIns="0" bIns="0" rtlCol="0" anchor="t">
            <a:spAutoFit/>
          </a:bodyPr>
          <a:lstStyle/>
          <a:p>
            <a:pPr algn="ctr">
              <a:lnSpc>
                <a:spcPts val="12319"/>
              </a:lnSpc>
              <a:spcBef>
                <a:spcPct val="0"/>
              </a:spcBef>
            </a:pPr>
            <a:r>
              <a:rPr lang="en-US" sz="8799" dirty="0" err="1">
                <a:solidFill>
                  <a:srgbClr val="000000"/>
                </a:solidFill>
                <a:latin typeface="Moontime"/>
                <a:ea typeface="Moontime"/>
                <a:cs typeface="Moontime"/>
                <a:sym typeface="Moontime"/>
              </a:rPr>
              <a:t>Présentation</a:t>
            </a:r>
            <a:r>
              <a:rPr lang="en-US" sz="8799" dirty="0">
                <a:solidFill>
                  <a:srgbClr val="000000"/>
                </a:solidFill>
                <a:latin typeface="Moontime"/>
                <a:ea typeface="Moontime"/>
                <a:cs typeface="Moontime"/>
                <a:sym typeface="Moontime"/>
              </a:rPr>
              <a:t> du </a:t>
            </a:r>
            <a:r>
              <a:rPr lang="en-US" sz="8799" dirty="0" err="1">
                <a:solidFill>
                  <a:srgbClr val="000000"/>
                </a:solidFill>
                <a:latin typeface="Moontime"/>
                <a:ea typeface="Moontime"/>
                <a:cs typeface="Moontime"/>
                <a:sym typeface="Moontime"/>
              </a:rPr>
              <a:t>Projet</a:t>
            </a:r>
            <a:endParaRPr lang="en-US" sz="8799" dirty="0">
              <a:solidFill>
                <a:srgbClr val="000000"/>
              </a:solidFill>
              <a:latin typeface="Moontime"/>
              <a:ea typeface="Moontime"/>
              <a:cs typeface="Moontime"/>
              <a:sym typeface="Moontime"/>
            </a:endParaRPr>
          </a:p>
        </p:txBody>
      </p:sp>
      <p:sp>
        <p:nvSpPr>
          <p:cNvPr id="10" name="TextBox 10"/>
          <p:cNvSpPr txBox="1"/>
          <p:nvPr/>
        </p:nvSpPr>
        <p:spPr>
          <a:xfrm>
            <a:off x="12789832" y="1180398"/>
            <a:ext cx="3988030" cy="763270"/>
          </a:xfrm>
          <a:prstGeom prst="rect">
            <a:avLst/>
          </a:prstGeom>
        </p:spPr>
        <p:txBody>
          <a:bodyPr lIns="0" tIns="0" rIns="0" bIns="0" rtlCol="0" anchor="t">
            <a:spAutoFit/>
          </a:bodyPr>
          <a:lstStyle/>
          <a:p>
            <a:pPr algn="r">
              <a:lnSpc>
                <a:spcPts val="3079"/>
              </a:lnSpc>
            </a:pPr>
            <a:r>
              <a:rPr lang="en-US" sz="2199" spc="145">
                <a:solidFill>
                  <a:srgbClr val="000000"/>
                </a:solidFill>
                <a:latin typeface="Lustria"/>
                <a:ea typeface="Lustria"/>
                <a:cs typeface="Lustria"/>
                <a:sym typeface="Lustria"/>
              </a:rPr>
              <a:t>HAJAR ABOUELHOUL</a:t>
            </a:r>
          </a:p>
          <a:p>
            <a:pPr algn="r">
              <a:lnSpc>
                <a:spcPts val="3079"/>
              </a:lnSpc>
              <a:spcBef>
                <a:spcPct val="0"/>
              </a:spcBef>
            </a:pPr>
            <a:r>
              <a:rPr lang="en-US" sz="2199" spc="145">
                <a:solidFill>
                  <a:srgbClr val="000000"/>
                </a:solidFill>
                <a:latin typeface="Lustria"/>
                <a:ea typeface="Lustria"/>
                <a:cs typeface="Lustria"/>
                <a:sym typeface="Lustria"/>
              </a:rPr>
              <a:t>SARA MOUNIB</a:t>
            </a:r>
          </a:p>
        </p:txBody>
      </p:sp>
      <p:sp>
        <p:nvSpPr>
          <p:cNvPr id="11" name="TextBox 11"/>
          <p:cNvSpPr txBox="1"/>
          <p:nvPr/>
        </p:nvSpPr>
        <p:spPr>
          <a:xfrm>
            <a:off x="1702419" y="3909024"/>
            <a:ext cx="14037925" cy="1425777"/>
          </a:xfrm>
          <a:prstGeom prst="rect">
            <a:avLst/>
          </a:prstGeom>
        </p:spPr>
        <p:txBody>
          <a:bodyPr lIns="0" tIns="0" rIns="0" bIns="0" rtlCol="0" anchor="t">
            <a:spAutoFit/>
          </a:bodyPr>
          <a:lstStyle/>
          <a:p>
            <a:pPr algn="ctr">
              <a:lnSpc>
                <a:spcPts val="11736"/>
              </a:lnSpc>
              <a:spcBef>
                <a:spcPct val="0"/>
              </a:spcBef>
            </a:pPr>
            <a:r>
              <a:rPr lang="en-US" sz="8383" spc="1006">
                <a:solidFill>
                  <a:srgbClr val="000000"/>
                </a:solidFill>
                <a:latin typeface="Lustria"/>
                <a:ea typeface="Lustria"/>
                <a:cs typeface="Lustria"/>
                <a:sym typeface="Lustria"/>
              </a:rPr>
              <a:t> PROJET TECH STORE</a:t>
            </a:r>
          </a:p>
        </p:txBody>
      </p:sp>
      <p:sp>
        <p:nvSpPr>
          <p:cNvPr id="12" name="TextBox 12"/>
          <p:cNvSpPr txBox="1"/>
          <p:nvPr/>
        </p:nvSpPr>
        <p:spPr>
          <a:xfrm>
            <a:off x="1702419" y="1375661"/>
            <a:ext cx="3988030" cy="372745"/>
          </a:xfrm>
          <a:prstGeom prst="rect">
            <a:avLst/>
          </a:prstGeom>
        </p:spPr>
        <p:txBody>
          <a:bodyPr lIns="0" tIns="0" rIns="0" bIns="0" rtlCol="0" anchor="t">
            <a:spAutoFit/>
          </a:bodyPr>
          <a:lstStyle/>
          <a:p>
            <a:pPr algn="l">
              <a:lnSpc>
                <a:spcPts val="3079"/>
              </a:lnSpc>
              <a:spcBef>
                <a:spcPct val="0"/>
              </a:spcBef>
            </a:pPr>
            <a:r>
              <a:rPr lang="en-US" sz="2199" spc="145">
                <a:solidFill>
                  <a:srgbClr val="000000"/>
                </a:solidFill>
                <a:latin typeface="Lustria"/>
                <a:ea typeface="Lustria"/>
                <a:cs typeface="Lustria"/>
                <a:sym typeface="Lustria"/>
              </a:rPr>
              <a:t>12/25/2025</a:t>
            </a:r>
          </a:p>
        </p:txBody>
      </p:sp>
      <p:sp>
        <p:nvSpPr>
          <p:cNvPr id="13" name="ZoneTexte 12">
            <a:extLst>
              <a:ext uri="{FF2B5EF4-FFF2-40B4-BE49-F238E27FC236}">
                <a16:creationId xmlns:a16="http://schemas.microsoft.com/office/drawing/2014/main" id="{0FD410F3-895A-8053-2597-2D25882B974D}"/>
              </a:ext>
            </a:extLst>
          </p:cNvPr>
          <p:cNvSpPr txBox="1"/>
          <p:nvPr/>
        </p:nvSpPr>
        <p:spPr>
          <a:xfrm>
            <a:off x="12954000" y="8191500"/>
            <a:ext cx="3823862" cy="800219"/>
          </a:xfrm>
          <a:prstGeom prst="rect">
            <a:avLst/>
          </a:prstGeom>
          <a:noFill/>
        </p:spPr>
        <p:txBody>
          <a:bodyPr wrap="square" rtlCol="0">
            <a:spAutoFit/>
          </a:bodyPr>
          <a:lstStyle/>
          <a:p>
            <a:r>
              <a:rPr lang="fr-FR" sz="2800" dirty="0">
                <a:latin typeface="Lucida Bright" panose="02040602050505020304" pitchFamily="18" charset="0"/>
              </a:rPr>
              <a:t>Développement Web</a:t>
            </a:r>
          </a:p>
          <a:p>
            <a:endParaRPr lang="fr-F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9F5"/>
        </a:solidFill>
        <a:effectLst/>
      </p:bgPr>
    </p:bg>
    <p:spTree>
      <p:nvGrpSpPr>
        <p:cNvPr id="1" name=""/>
        <p:cNvGrpSpPr/>
        <p:nvPr/>
      </p:nvGrpSpPr>
      <p:grpSpPr>
        <a:xfrm>
          <a:off x="0" y="0"/>
          <a:ext cx="0" cy="0"/>
          <a:chOff x="0" y="0"/>
          <a:chExt cx="0" cy="0"/>
        </a:xfrm>
      </p:grpSpPr>
      <p:grpSp>
        <p:nvGrpSpPr>
          <p:cNvPr id="2" name="Group 2"/>
          <p:cNvGrpSpPr/>
          <p:nvPr/>
        </p:nvGrpSpPr>
        <p:grpSpPr>
          <a:xfrm>
            <a:off x="1188892" y="9268046"/>
            <a:ext cx="16230600" cy="723153"/>
            <a:chOff x="0" y="0"/>
            <a:chExt cx="4274726" cy="190460"/>
          </a:xfrm>
        </p:grpSpPr>
        <p:sp>
          <p:nvSpPr>
            <p:cNvPr id="3" name="Freeform 3"/>
            <p:cNvSpPr/>
            <p:nvPr/>
          </p:nvSpPr>
          <p:spPr>
            <a:xfrm>
              <a:off x="0" y="0"/>
              <a:ext cx="4274726" cy="190460"/>
            </a:xfrm>
            <a:custGeom>
              <a:avLst/>
              <a:gdLst/>
              <a:ahLst/>
              <a:cxnLst/>
              <a:rect l="l" t="t" r="r" b="b"/>
              <a:pathLst>
                <a:path w="4274726" h="190460">
                  <a:moveTo>
                    <a:pt x="0" y="0"/>
                  </a:moveTo>
                  <a:lnTo>
                    <a:pt x="4274726" y="0"/>
                  </a:lnTo>
                  <a:lnTo>
                    <a:pt x="4274726" y="190460"/>
                  </a:lnTo>
                  <a:lnTo>
                    <a:pt x="0" y="190460"/>
                  </a:lnTo>
                  <a:close/>
                </a:path>
              </a:pathLst>
            </a:custGeom>
            <a:solidFill>
              <a:srgbClr val="000000">
                <a:alpha val="0"/>
              </a:srgbClr>
            </a:solidFill>
            <a:ln w="19050" cap="sq">
              <a:solidFill>
                <a:srgbClr val="000000"/>
              </a:solidFill>
              <a:prstDash val="solid"/>
              <a:miter/>
            </a:ln>
          </p:spPr>
        </p:sp>
        <p:sp>
          <p:nvSpPr>
            <p:cNvPr id="4" name="TextBox 4"/>
            <p:cNvSpPr txBox="1"/>
            <p:nvPr/>
          </p:nvSpPr>
          <p:spPr>
            <a:xfrm>
              <a:off x="0" y="-38100"/>
              <a:ext cx="4274726" cy="22856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9144000" y="1028700"/>
            <a:ext cx="8115300" cy="1120210"/>
            <a:chOff x="0" y="0"/>
            <a:chExt cx="2137363" cy="295035"/>
          </a:xfrm>
        </p:grpSpPr>
        <p:sp>
          <p:nvSpPr>
            <p:cNvPr id="6" name="Freeform 6"/>
            <p:cNvSpPr/>
            <p:nvPr/>
          </p:nvSpPr>
          <p:spPr>
            <a:xfrm>
              <a:off x="0" y="0"/>
              <a:ext cx="2137363" cy="295035"/>
            </a:xfrm>
            <a:custGeom>
              <a:avLst/>
              <a:gdLst/>
              <a:ahLst/>
              <a:cxnLst/>
              <a:rect l="l" t="t" r="r" b="b"/>
              <a:pathLst>
                <a:path w="2137363" h="295035">
                  <a:moveTo>
                    <a:pt x="0" y="0"/>
                  </a:moveTo>
                  <a:lnTo>
                    <a:pt x="2137363" y="0"/>
                  </a:lnTo>
                  <a:lnTo>
                    <a:pt x="2137363" y="295035"/>
                  </a:lnTo>
                  <a:lnTo>
                    <a:pt x="0" y="295035"/>
                  </a:lnTo>
                  <a:close/>
                </a:path>
              </a:pathLst>
            </a:custGeom>
            <a:solidFill>
              <a:srgbClr val="000000">
                <a:alpha val="0"/>
              </a:srgbClr>
            </a:solidFill>
            <a:ln w="19050" cap="sq">
              <a:solidFill>
                <a:srgbClr val="000000"/>
              </a:solidFill>
              <a:prstDash val="solid"/>
              <a:miter/>
            </a:ln>
          </p:spPr>
        </p:sp>
        <p:sp>
          <p:nvSpPr>
            <p:cNvPr id="7" name="TextBox 7"/>
            <p:cNvSpPr txBox="1"/>
            <p:nvPr/>
          </p:nvSpPr>
          <p:spPr>
            <a:xfrm>
              <a:off x="0" y="-38100"/>
              <a:ext cx="2137363" cy="333135"/>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a:off x="10743472" y="3131787"/>
            <a:ext cx="360961" cy="360961"/>
          </a:xfrm>
          <a:custGeom>
            <a:avLst/>
            <a:gdLst/>
            <a:ahLst/>
            <a:cxnLst/>
            <a:rect l="l" t="t" r="r" b="b"/>
            <a:pathLst>
              <a:path w="360961" h="360961">
                <a:moveTo>
                  <a:pt x="0" y="0"/>
                </a:moveTo>
                <a:lnTo>
                  <a:pt x="360962" y="0"/>
                </a:lnTo>
                <a:lnTo>
                  <a:pt x="360962" y="360961"/>
                </a:lnTo>
                <a:lnTo>
                  <a:pt x="0" y="36096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Freeform 9"/>
          <p:cNvSpPr/>
          <p:nvPr/>
        </p:nvSpPr>
        <p:spPr>
          <a:xfrm>
            <a:off x="10729796" y="5885159"/>
            <a:ext cx="360961" cy="360961"/>
          </a:xfrm>
          <a:custGeom>
            <a:avLst/>
            <a:gdLst/>
            <a:ahLst/>
            <a:cxnLst/>
            <a:rect l="l" t="t" r="r" b="b"/>
            <a:pathLst>
              <a:path w="360961" h="360961">
                <a:moveTo>
                  <a:pt x="0" y="0"/>
                </a:moveTo>
                <a:lnTo>
                  <a:pt x="360962" y="0"/>
                </a:lnTo>
                <a:lnTo>
                  <a:pt x="360962" y="360961"/>
                </a:lnTo>
                <a:lnTo>
                  <a:pt x="0" y="36096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0" name="Freeform 10"/>
          <p:cNvSpPr/>
          <p:nvPr/>
        </p:nvSpPr>
        <p:spPr>
          <a:xfrm>
            <a:off x="10729796" y="7829606"/>
            <a:ext cx="360961" cy="360961"/>
          </a:xfrm>
          <a:custGeom>
            <a:avLst/>
            <a:gdLst/>
            <a:ahLst/>
            <a:cxnLst/>
            <a:rect l="l" t="t" r="r" b="b"/>
            <a:pathLst>
              <a:path w="360961" h="360961">
                <a:moveTo>
                  <a:pt x="0" y="0"/>
                </a:moveTo>
                <a:lnTo>
                  <a:pt x="360962" y="0"/>
                </a:lnTo>
                <a:lnTo>
                  <a:pt x="360962" y="360961"/>
                </a:lnTo>
                <a:lnTo>
                  <a:pt x="0" y="36096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1" name="Freeform 11"/>
          <p:cNvSpPr/>
          <p:nvPr/>
        </p:nvSpPr>
        <p:spPr>
          <a:xfrm>
            <a:off x="10729796" y="4009343"/>
            <a:ext cx="360961" cy="360961"/>
          </a:xfrm>
          <a:custGeom>
            <a:avLst/>
            <a:gdLst/>
            <a:ahLst/>
            <a:cxnLst/>
            <a:rect l="l" t="t" r="r" b="b"/>
            <a:pathLst>
              <a:path w="360961" h="360961">
                <a:moveTo>
                  <a:pt x="0" y="0"/>
                </a:moveTo>
                <a:lnTo>
                  <a:pt x="360962" y="0"/>
                </a:lnTo>
                <a:lnTo>
                  <a:pt x="360962" y="360961"/>
                </a:lnTo>
                <a:lnTo>
                  <a:pt x="0" y="36096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2" name="Group 12"/>
          <p:cNvGrpSpPr/>
          <p:nvPr/>
        </p:nvGrpSpPr>
        <p:grpSpPr>
          <a:xfrm>
            <a:off x="1829472" y="1448081"/>
            <a:ext cx="6110387" cy="6110387"/>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solidFill>
                <a:srgbClr val="000000"/>
              </a:solidFill>
              <a:prstDash val="solid"/>
              <a:miter/>
            </a:ln>
          </p:spPr>
        </p:sp>
        <p:sp>
          <p:nvSpPr>
            <p:cNvPr id="14" name="TextBox 14"/>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19" name="TextBox 19"/>
          <p:cNvSpPr txBox="1"/>
          <p:nvPr/>
        </p:nvSpPr>
        <p:spPr>
          <a:xfrm>
            <a:off x="9304192" y="1197443"/>
            <a:ext cx="7836877" cy="712443"/>
          </a:xfrm>
          <a:prstGeom prst="rect">
            <a:avLst/>
          </a:prstGeom>
        </p:spPr>
        <p:txBody>
          <a:bodyPr lIns="0" tIns="0" rIns="0" bIns="0" rtlCol="0" anchor="t">
            <a:spAutoFit/>
          </a:bodyPr>
          <a:lstStyle/>
          <a:p>
            <a:pPr algn="ctr">
              <a:lnSpc>
                <a:spcPts val="5880"/>
              </a:lnSpc>
              <a:spcBef>
                <a:spcPct val="0"/>
              </a:spcBef>
            </a:pPr>
            <a:r>
              <a:rPr lang="en-US" sz="4200" spc="504">
                <a:solidFill>
                  <a:srgbClr val="000000"/>
                </a:solidFill>
                <a:latin typeface="Lustria"/>
                <a:ea typeface="Lustria"/>
                <a:cs typeface="Lustria"/>
                <a:sym typeface="Lustria"/>
              </a:rPr>
              <a:t>SOMMAIRE</a:t>
            </a:r>
          </a:p>
        </p:txBody>
      </p:sp>
      <p:sp>
        <p:nvSpPr>
          <p:cNvPr id="20" name="TextBox 20"/>
          <p:cNvSpPr txBox="1"/>
          <p:nvPr/>
        </p:nvSpPr>
        <p:spPr>
          <a:xfrm>
            <a:off x="11335003" y="3053148"/>
            <a:ext cx="4338500" cy="459741"/>
          </a:xfrm>
          <a:prstGeom prst="rect">
            <a:avLst/>
          </a:prstGeom>
        </p:spPr>
        <p:txBody>
          <a:bodyPr lIns="0" tIns="0" rIns="0" bIns="0" rtlCol="0" anchor="t">
            <a:spAutoFit/>
          </a:bodyPr>
          <a:lstStyle/>
          <a:p>
            <a:pPr algn="l">
              <a:lnSpc>
                <a:spcPts val="3521"/>
              </a:lnSpc>
              <a:spcBef>
                <a:spcPct val="0"/>
              </a:spcBef>
            </a:pPr>
            <a:r>
              <a:rPr lang="en-US" sz="3200" spc="299" dirty="0">
                <a:latin typeface="Georgia" panose="02040502050405020303" pitchFamily="18" charset="0"/>
                <a:ea typeface="Lustria"/>
                <a:cs typeface="Lustria"/>
                <a:sym typeface="Lustria"/>
              </a:rPr>
              <a:t>Introduction</a:t>
            </a:r>
          </a:p>
        </p:txBody>
      </p:sp>
      <p:sp>
        <p:nvSpPr>
          <p:cNvPr id="21" name="TextBox 21"/>
          <p:cNvSpPr txBox="1"/>
          <p:nvPr/>
        </p:nvSpPr>
        <p:spPr>
          <a:xfrm>
            <a:off x="9746131" y="5648913"/>
            <a:ext cx="6952997" cy="633635"/>
          </a:xfrm>
          <a:prstGeom prst="rect">
            <a:avLst/>
          </a:prstGeom>
        </p:spPr>
        <p:txBody>
          <a:bodyPr lIns="0" tIns="0" rIns="0" bIns="0" rtlCol="0" anchor="t">
            <a:spAutoFit/>
          </a:bodyPr>
          <a:lstStyle/>
          <a:p>
            <a:pPr algn="ctr">
              <a:lnSpc>
                <a:spcPts val="5600"/>
              </a:lnSpc>
              <a:spcBef>
                <a:spcPct val="0"/>
              </a:spcBef>
            </a:pPr>
            <a:r>
              <a:rPr lang="fr-FR" sz="3200" dirty="0">
                <a:latin typeface="Georgia" panose="02040502050405020303" pitchFamily="18" charset="0"/>
              </a:rPr>
              <a:t>KPI ET DASHBOARD</a:t>
            </a:r>
            <a:endParaRPr lang="en-US" sz="3200" spc="480" dirty="0">
              <a:latin typeface="Georgia" panose="02040502050405020303" pitchFamily="18" charset="0"/>
              <a:ea typeface="Lustria"/>
              <a:cs typeface="Lustria"/>
              <a:sym typeface="Lustria"/>
            </a:endParaRPr>
          </a:p>
        </p:txBody>
      </p:sp>
      <p:sp>
        <p:nvSpPr>
          <p:cNvPr id="22" name="TextBox 22"/>
          <p:cNvSpPr txBox="1"/>
          <p:nvPr/>
        </p:nvSpPr>
        <p:spPr>
          <a:xfrm>
            <a:off x="11271238" y="8445478"/>
            <a:ext cx="4338500" cy="459741"/>
          </a:xfrm>
          <a:prstGeom prst="rect">
            <a:avLst/>
          </a:prstGeom>
        </p:spPr>
        <p:txBody>
          <a:bodyPr lIns="0" tIns="0" rIns="0" bIns="0" rtlCol="0" anchor="t">
            <a:spAutoFit/>
          </a:bodyPr>
          <a:lstStyle/>
          <a:p>
            <a:pPr algn="l">
              <a:lnSpc>
                <a:spcPts val="3521"/>
              </a:lnSpc>
              <a:spcBef>
                <a:spcPct val="0"/>
              </a:spcBef>
            </a:pPr>
            <a:r>
              <a:rPr lang="en-US" sz="3200" spc="299" dirty="0">
                <a:latin typeface="Georgia" panose="02040502050405020303" pitchFamily="18" charset="0"/>
                <a:ea typeface="Lustria"/>
                <a:cs typeface="Lustria"/>
                <a:sym typeface="Lustria"/>
              </a:rPr>
              <a:t>Conclusion</a:t>
            </a:r>
          </a:p>
        </p:txBody>
      </p:sp>
      <p:sp>
        <p:nvSpPr>
          <p:cNvPr id="23" name="TextBox 23"/>
          <p:cNvSpPr txBox="1"/>
          <p:nvPr/>
        </p:nvSpPr>
        <p:spPr>
          <a:xfrm>
            <a:off x="11240758" y="4769982"/>
            <a:ext cx="6677911" cy="633635"/>
          </a:xfrm>
          <a:prstGeom prst="rect">
            <a:avLst/>
          </a:prstGeom>
        </p:spPr>
        <p:txBody>
          <a:bodyPr lIns="0" tIns="0" rIns="0" bIns="0" rtlCol="0" anchor="t">
            <a:spAutoFit/>
          </a:bodyPr>
          <a:lstStyle/>
          <a:p>
            <a:pPr>
              <a:lnSpc>
                <a:spcPts val="5600"/>
              </a:lnSpc>
              <a:spcBef>
                <a:spcPct val="0"/>
              </a:spcBef>
            </a:pPr>
            <a:r>
              <a:rPr lang="fr-FR" sz="3200" dirty="0">
                <a:latin typeface="Georgia" panose="02040502050405020303" pitchFamily="18" charset="0"/>
              </a:rPr>
              <a:t>Produits (CRUD complet)</a:t>
            </a:r>
            <a:endParaRPr lang="en-US" sz="3200" spc="480" dirty="0">
              <a:latin typeface="Georgia" panose="02040502050405020303" pitchFamily="18" charset="0"/>
              <a:ea typeface="Lustria"/>
              <a:cs typeface="Lustria"/>
              <a:sym typeface="Lustria"/>
            </a:endParaRPr>
          </a:p>
        </p:txBody>
      </p:sp>
      <p:sp>
        <p:nvSpPr>
          <p:cNvPr id="24" name="TextBox 24"/>
          <p:cNvSpPr txBox="1"/>
          <p:nvPr/>
        </p:nvSpPr>
        <p:spPr>
          <a:xfrm>
            <a:off x="1528949" y="9439790"/>
            <a:ext cx="3988030" cy="306705"/>
          </a:xfrm>
          <a:prstGeom prst="rect">
            <a:avLst/>
          </a:prstGeom>
        </p:spPr>
        <p:txBody>
          <a:bodyPr lIns="0" tIns="0" rIns="0" bIns="0" rtlCol="0" anchor="t">
            <a:spAutoFit/>
          </a:bodyPr>
          <a:lstStyle/>
          <a:p>
            <a:pPr algn="l">
              <a:lnSpc>
                <a:spcPts val="2520"/>
              </a:lnSpc>
              <a:spcBef>
                <a:spcPct val="0"/>
              </a:spcBef>
            </a:pPr>
            <a:r>
              <a:rPr lang="en-US" sz="1800" spc="118" dirty="0">
                <a:solidFill>
                  <a:srgbClr val="000000"/>
                </a:solidFill>
                <a:latin typeface="Lustria"/>
                <a:ea typeface="Lustria"/>
                <a:cs typeface="Lustria"/>
                <a:sym typeface="Lustria"/>
              </a:rPr>
              <a:t>PAGE 2</a:t>
            </a:r>
          </a:p>
        </p:txBody>
      </p:sp>
      <p:sp>
        <p:nvSpPr>
          <p:cNvPr id="25" name="Freeform 25"/>
          <p:cNvSpPr/>
          <p:nvPr/>
        </p:nvSpPr>
        <p:spPr>
          <a:xfrm>
            <a:off x="10743472" y="4986527"/>
            <a:ext cx="360961" cy="360961"/>
          </a:xfrm>
          <a:custGeom>
            <a:avLst/>
            <a:gdLst/>
            <a:ahLst/>
            <a:cxnLst/>
            <a:rect l="l" t="t" r="r" b="b"/>
            <a:pathLst>
              <a:path w="360961" h="360961">
                <a:moveTo>
                  <a:pt x="0" y="0"/>
                </a:moveTo>
                <a:lnTo>
                  <a:pt x="360962" y="0"/>
                </a:lnTo>
                <a:lnTo>
                  <a:pt x="360962" y="360961"/>
                </a:lnTo>
                <a:lnTo>
                  <a:pt x="0" y="36096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6" name="TextBox 26"/>
          <p:cNvSpPr txBox="1"/>
          <p:nvPr/>
        </p:nvSpPr>
        <p:spPr>
          <a:xfrm>
            <a:off x="11153644" y="3817690"/>
            <a:ext cx="7254753" cy="645561"/>
          </a:xfrm>
          <a:prstGeom prst="rect">
            <a:avLst/>
          </a:prstGeom>
        </p:spPr>
        <p:txBody>
          <a:bodyPr lIns="0" tIns="0" rIns="0" bIns="0" rtlCol="0" anchor="t">
            <a:spAutoFit/>
          </a:bodyPr>
          <a:lstStyle/>
          <a:p>
            <a:pPr>
              <a:lnSpc>
                <a:spcPts val="5600"/>
              </a:lnSpc>
              <a:spcBef>
                <a:spcPct val="0"/>
              </a:spcBef>
            </a:pPr>
            <a:r>
              <a:rPr lang="fr-FR" sz="3200" dirty="0">
                <a:latin typeface="Georgia" panose="02040502050405020303" pitchFamily="18" charset="0"/>
              </a:rPr>
              <a:t>Structure de l’application</a:t>
            </a:r>
            <a:endParaRPr lang="en-US" sz="3200" spc="480" dirty="0">
              <a:latin typeface="Georgia" panose="02040502050405020303" pitchFamily="18" charset="0"/>
              <a:ea typeface="Lustria"/>
              <a:cs typeface="Andalus" panose="02020603050405020304" pitchFamily="18" charset="-78"/>
              <a:sym typeface="Lustria"/>
            </a:endParaRPr>
          </a:p>
        </p:txBody>
      </p:sp>
      <p:sp>
        <p:nvSpPr>
          <p:cNvPr id="28" name="Freeform 28"/>
          <p:cNvSpPr/>
          <p:nvPr/>
        </p:nvSpPr>
        <p:spPr>
          <a:xfrm>
            <a:off x="10729796" y="6525669"/>
            <a:ext cx="360961" cy="360961"/>
          </a:xfrm>
          <a:custGeom>
            <a:avLst/>
            <a:gdLst/>
            <a:ahLst/>
            <a:cxnLst/>
            <a:rect l="l" t="t" r="r" b="b"/>
            <a:pathLst>
              <a:path w="360961" h="360961">
                <a:moveTo>
                  <a:pt x="0" y="0"/>
                </a:moveTo>
                <a:lnTo>
                  <a:pt x="360962" y="0"/>
                </a:lnTo>
                <a:lnTo>
                  <a:pt x="360962" y="360962"/>
                </a:lnTo>
                <a:lnTo>
                  <a:pt x="0" y="36096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pic>
        <p:nvPicPr>
          <p:cNvPr id="30" name="Image 29">
            <a:extLst>
              <a:ext uri="{FF2B5EF4-FFF2-40B4-BE49-F238E27FC236}">
                <a16:creationId xmlns:a16="http://schemas.microsoft.com/office/drawing/2014/main" id="{28FEED62-95CF-DA61-B36A-C3DF08B7FFA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600673">
            <a:off x="1661827" y="511077"/>
            <a:ext cx="5263558" cy="5902021"/>
          </a:xfrm>
          <a:prstGeom prst="rect">
            <a:avLst/>
          </a:prstGeom>
        </p:spPr>
      </p:pic>
      <p:pic>
        <p:nvPicPr>
          <p:cNvPr id="32" name="Image 31">
            <a:extLst>
              <a:ext uri="{FF2B5EF4-FFF2-40B4-BE49-F238E27FC236}">
                <a16:creationId xmlns:a16="http://schemas.microsoft.com/office/drawing/2014/main" id="{BCA2FFE6-8486-FA0F-7DDA-5D11EE81C32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919648" y="3023315"/>
            <a:ext cx="6188016" cy="4895744"/>
          </a:xfrm>
          <a:prstGeom prst="rect">
            <a:avLst/>
          </a:prstGeom>
        </p:spPr>
      </p:pic>
      <p:sp>
        <p:nvSpPr>
          <p:cNvPr id="33" name="Freeform 28">
            <a:extLst>
              <a:ext uri="{FF2B5EF4-FFF2-40B4-BE49-F238E27FC236}">
                <a16:creationId xmlns:a16="http://schemas.microsoft.com/office/drawing/2014/main" id="{E26B2BCC-DE46-03B3-616B-94B2E90A318A}"/>
              </a:ext>
            </a:extLst>
          </p:cNvPr>
          <p:cNvSpPr/>
          <p:nvPr/>
        </p:nvSpPr>
        <p:spPr>
          <a:xfrm>
            <a:off x="10731021" y="7124576"/>
            <a:ext cx="360961" cy="360961"/>
          </a:xfrm>
          <a:custGeom>
            <a:avLst/>
            <a:gdLst/>
            <a:ahLst/>
            <a:cxnLst/>
            <a:rect l="l" t="t" r="r" b="b"/>
            <a:pathLst>
              <a:path w="360961" h="360961">
                <a:moveTo>
                  <a:pt x="0" y="0"/>
                </a:moveTo>
                <a:lnTo>
                  <a:pt x="360962" y="0"/>
                </a:lnTo>
                <a:lnTo>
                  <a:pt x="360962" y="360962"/>
                </a:lnTo>
                <a:lnTo>
                  <a:pt x="0" y="36096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7" name="ZoneTexte 36">
            <a:extLst>
              <a:ext uri="{FF2B5EF4-FFF2-40B4-BE49-F238E27FC236}">
                <a16:creationId xmlns:a16="http://schemas.microsoft.com/office/drawing/2014/main" id="{8630DA0A-B37D-D252-5524-9595324AADDE}"/>
              </a:ext>
            </a:extLst>
          </p:cNvPr>
          <p:cNvSpPr txBox="1"/>
          <p:nvPr/>
        </p:nvSpPr>
        <p:spPr>
          <a:xfrm>
            <a:off x="11184124" y="7058066"/>
            <a:ext cx="6075176" cy="646331"/>
          </a:xfrm>
          <a:prstGeom prst="rect">
            <a:avLst/>
          </a:prstGeom>
          <a:noFill/>
        </p:spPr>
        <p:txBody>
          <a:bodyPr wrap="square">
            <a:spAutoFit/>
          </a:bodyPr>
          <a:lstStyle/>
          <a:p>
            <a:r>
              <a:rPr lang="fr-FR" sz="3600" dirty="0">
                <a:latin typeface="Georgia" panose="02040502050405020303" pitchFamily="18" charset="0"/>
                <a:cs typeface="Arabic Typesetting" panose="03020402040406030203" pitchFamily="66" charset="-78"/>
              </a:rPr>
              <a:t>Formulaire et recherche</a:t>
            </a:r>
          </a:p>
        </p:txBody>
      </p:sp>
      <p:sp>
        <p:nvSpPr>
          <p:cNvPr id="15" name="ZoneTexte 14">
            <a:extLst>
              <a:ext uri="{FF2B5EF4-FFF2-40B4-BE49-F238E27FC236}">
                <a16:creationId xmlns:a16="http://schemas.microsoft.com/office/drawing/2014/main" id="{DF23F404-4950-54E9-E203-A78B8C7F276A}"/>
              </a:ext>
            </a:extLst>
          </p:cNvPr>
          <p:cNvSpPr txBox="1"/>
          <p:nvPr/>
        </p:nvSpPr>
        <p:spPr>
          <a:xfrm>
            <a:off x="11143842" y="7732072"/>
            <a:ext cx="6482527" cy="584775"/>
          </a:xfrm>
          <a:prstGeom prst="rect">
            <a:avLst/>
          </a:prstGeom>
          <a:noFill/>
        </p:spPr>
        <p:txBody>
          <a:bodyPr wrap="square" rtlCol="0">
            <a:spAutoFit/>
          </a:bodyPr>
          <a:lstStyle/>
          <a:p>
            <a:r>
              <a:rPr lang="fr-FR" sz="3200" dirty="0" err="1">
                <a:latin typeface="Georgia" panose="02040502050405020303" pitchFamily="18" charset="0"/>
              </a:rPr>
              <a:t>Fonctionnalitées</a:t>
            </a:r>
            <a:r>
              <a:rPr lang="fr-FR" sz="3200" dirty="0">
                <a:latin typeface="Georgia" panose="02040502050405020303" pitchFamily="18" charset="0"/>
              </a:rPr>
              <a:t> et </a:t>
            </a:r>
            <a:r>
              <a:rPr lang="fr-FR" sz="3200" dirty="0" err="1">
                <a:latin typeface="Georgia" panose="02040502050405020303" pitchFamily="18" charset="0"/>
              </a:rPr>
              <a:t>difficultées</a:t>
            </a:r>
            <a:endParaRPr lang="fr-FR" sz="3200" dirty="0">
              <a:latin typeface="Georgia" panose="02040502050405020303" pitchFamily="18" charset="0"/>
            </a:endParaRPr>
          </a:p>
        </p:txBody>
      </p:sp>
      <p:sp>
        <p:nvSpPr>
          <p:cNvPr id="16" name="ZoneTexte 15">
            <a:extLst>
              <a:ext uri="{FF2B5EF4-FFF2-40B4-BE49-F238E27FC236}">
                <a16:creationId xmlns:a16="http://schemas.microsoft.com/office/drawing/2014/main" id="{41191AA6-A4E4-4A91-51B7-0503D340C88E}"/>
              </a:ext>
            </a:extLst>
          </p:cNvPr>
          <p:cNvSpPr txBox="1"/>
          <p:nvPr/>
        </p:nvSpPr>
        <p:spPr>
          <a:xfrm>
            <a:off x="11271238" y="6525669"/>
            <a:ext cx="5427890" cy="584775"/>
          </a:xfrm>
          <a:prstGeom prst="rect">
            <a:avLst/>
          </a:prstGeom>
          <a:noFill/>
        </p:spPr>
        <p:txBody>
          <a:bodyPr wrap="square" rtlCol="0">
            <a:spAutoFit/>
          </a:bodyPr>
          <a:lstStyle/>
          <a:p>
            <a:r>
              <a:rPr lang="fr-FR" sz="3200" dirty="0" err="1">
                <a:latin typeface="Georgia" panose="02040502050405020303" pitchFamily="18" charset="0"/>
              </a:rPr>
              <a:t>Integration</a:t>
            </a:r>
            <a:r>
              <a:rPr lang="fr-FR" sz="3200" dirty="0">
                <a:latin typeface="Georgia" panose="02040502050405020303" pitchFamily="18" charset="0"/>
              </a:rPr>
              <a:t> et </a:t>
            </a:r>
            <a:r>
              <a:rPr lang="fr-FR" sz="3200" dirty="0" err="1">
                <a:latin typeface="Georgia" panose="02040502050405020303" pitchFamily="18" charset="0"/>
              </a:rPr>
              <a:t>kpi</a:t>
            </a:r>
            <a:endParaRPr lang="fr-FR" sz="3200" dirty="0">
              <a:latin typeface="Georgia" panose="02040502050405020303" pitchFamily="18" charset="0"/>
            </a:endParaRPr>
          </a:p>
        </p:txBody>
      </p:sp>
      <p:sp>
        <p:nvSpPr>
          <p:cNvPr id="17" name="Freeform 25">
            <a:extLst>
              <a:ext uri="{FF2B5EF4-FFF2-40B4-BE49-F238E27FC236}">
                <a16:creationId xmlns:a16="http://schemas.microsoft.com/office/drawing/2014/main" id="{578E863E-C2E1-6DBA-2E23-EED95E741E17}"/>
              </a:ext>
            </a:extLst>
          </p:cNvPr>
          <p:cNvSpPr/>
          <p:nvPr/>
        </p:nvSpPr>
        <p:spPr>
          <a:xfrm>
            <a:off x="10782881" y="8418355"/>
            <a:ext cx="360961" cy="360961"/>
          </a:xfrm>
          <a:custGeom>
            <a:avLst/>
            <a:gdLst/>
            <a:ahLst/>
            <a:cxnLst/>
            <a:rect l="l" t="t" r="r" b="b"/>
            <a:pathLst>
              <a:path w="360961" h="360961">
                <a:moveTo>
                  <a:pt x="0" y="0"/>
                </a:moveTo>
                <a:lnTo>
                  <a:pt x="360962" y="0"/>
                </a:lnTo>
                <a:lnTo>
                  <a:pt x="360962" y="360961"/>
                </a:lnTo>
                <a:lnTo>
                  <a:pt x="0" y="36096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9F5"/>
        </a:solidFill>
        <a:effectLst/>
      </p:bgPr>
    </p:bg>
    <p:spTree>
      <p:nvGrpSpPr>
        <p:cNvPr id="1" name=""/>
        <p:cNvGrpSpPr/>
        <p:nvPr/>
      </p:nvGrpSpPr>
      <p:grpSpPr>
        <a:xfrm>
          <a:off x="0" y="0"/>
          <a:ext cx="0" cy="0"/>
          <a:chOff x="0" y="0"/>
          <a:chExt cx="0" cy="0"/>
        </a:xfrm>
      </p:grpSpPr>
      <p:grpSp>
        <p:nvGrpSpPr>
          <p:cNvPr id="2" name="Group 2"/>
          <p:cNvGrpSpPr/>
          <p:nvPr/>
        </p:nvGrpSpPr>
        <p:grpSpPr>
          <a:xfrm>
            <a:off x="1028700" y="8535147"/>
            <a:ext cx="16230600" cy="723153"/>
            <a:chOff x="0" y="0"/>
            <a:chExt cx="4274726" cy="190460"/>
          </a:xfrm>
        </p:grpSpPr>
        <p:sp>
          <p:nvSpPr>
            <p:cNvPr id="3" name="Freeform 3"/>
            <p:cNvSpPr/>
            <p:nvPr/>
          </p:nvSpPr>
          <p:spPr>
            <a:xfrm>
              <a:off x="0" y="0"/>
              <a:ext cx="4274726" cy="190460"/>
            </a:xfrm>
            <a:custGeom>
              <a:avLst/>
              <a:gdLst/>
              <a:ahLst/>
              <a:cxnLst/>
              <a:rect l="l" t="t" r="r" b="b"/>
              <a:pathLst>
                <a:path w="4274726" h="190460">
                  <a:moveTo>
                    <a:pt x="0" y="0"/>
                  </a:moveTo>
                  <a:lnTo>
                    <a:pt x="4274726" y="0"/>
                  </a:lnTo>
                  <a:lnTo>
                    <a:pt x="4274726" y="190460"/>
                  </a:lnTo>
                  <a:lnTo>
                    <a:pt x="0" y="190460"/>
                  </a:lnTo>
                  <a:close/>
                </a:path>
              </a:pathLst>
            </a:custGeom>
            <a:solidFill>
              <a:srgbClr val="000000">
                <a:alpha val="0"/>
              </a:srgbClr>
            </a:solidFill>
            <a:ln w="19050" cap="sq">
              <a:solidFill>
                <a:srgbClr val="000000"/>
              </a:solidFill>
              <a:prstDash val="solid"/>
              <a:miter/>
            </a:ln>
          </p:spPr>
        </p:sp>
        <p:sp>
          <p:nvSpPr>
            <p:cNvPr id="4" name="TextBox 4"/>
            <p:cNvSpPr txBox="1"/>
            <p:nvPr/>
          </p:nvSpPr>
          <p:spPr>
            <a:xfrm>
              <a:off x="0" y="-38100"/>
              <a:ext cx="4274726" cy="228560"/>
            </a:xfrm>
            <a:prstGeom prst="rect">
              <a:avLst/>
            </a:prstGeom>
          </p:spPr>
          <p:txBody>
            <a:bodyPr lIns="50800" tIns="50800" rIns="50800" bIns="50800" rtlCol="0" anchor="ctr"/>
            <a:lstStyle/>
            <a:p>
              <a:pPr algn="ctr">
                <a:lnSpc>
                  <a:spcPts val="2659"/>
                </a:lnSpc>
                <a:spcBef>
                  <a:spcPct val="0"/>
                </a:spcBef>
              </a:pPr>
              <a:endParaRPr/>
            </a:p>
          </p:txBody>
        </p:sp>
      </p:grpSp>
      <p:sp>
        <p:nvSpPr>
          <p:cNvPr id="8" name="TextBox 8"/>
          <p:cNvSpPr txBox="1"/>
          <p:nvPr/>
        </p:nvSpPr>
        <p:spPr>
          <a:xfrm>
            <a:off x="12735989" y="7330097"/>
            <a:ext cx="3988030" cy="309700"/>
          </a:xfrm>
          <a:prstGeom prst="rect">
            <a:avLst/>
          </a:prstGeom>
        </p:spPr>
        <p:txBody>
          <a:bodyPr lIns="0" tIns="0" rIns="0" bIns="0" rtlCol="0" anchor="t">
            <a:spAutoFit/>
          </a:bodyPr>
          <a:lstStyle/>
          <a:p>
            <a:pPr algn="ctr">
              <a:lnSpc>
                <a:spcPts val="2520"/>
              </a:lnSpc>
              <a:spcBef>
                <a:spcPct val="0"/>
              </a:spcBef>
            </a:pPr>
            <a:r>
              <a:rPr lang="en-US" dirty="0">
                <a:solidFill>
                  <a:srgbClr val="000000"/>
                </a:solidFill>
                <a:latin typeface="Lustria"/>
                <a:ea typeface="Lustria"/>
                <a:cs typeface="Lustria"/>
                <a:sym typeface="Lustria"/>
              </a:rPr>
              <a:t>KPI</a:t>
            </a:r>
            <a:endParaRPr lang="en-US" sz="1800" dirty="0">
              <a:solidFill>
                <a:srgbClr val="000000"/>
              </a:solidFill>
              <a:latin typeface="Lustria"/>
              <a:ea typeface="Lustria"/>
              <a:cs typeface="Lustria"/>
              <a:sym typeface="Lustria"/>
            </a:endParaRPr>
          </a:p>
        </p:txBody>
      </p:sp>
      <p:sp>
        <p:nvSpPr>
          <p:cNvPr id="9" name="TextBox 9"/>
          <p:cNvSpPr txBox="1"/>
          <p:nvPr/>
        </p:nvSpPr>
        <p:spPr>
          <a:xfrm>
            <a:off x="640612" y="1397868"/>
            <a:ext cx="7836877" cy="692497"/>
          </a:xfrm>
          <a:prstGeom prst="rect">
            <a:avLst/>
          </a:prstGeom>
        </p:spPr>
        <p:txBody>
          <a:bodyPr lIns="0" tIns="0" rIns="0" bIns="0" rtlCol="0" anchor="t">
            <a:spAutoFit/>
          </a:bodyPr>
          <a:lstStyle/>
          <a:p>
            <a:pPr algn="l">
              <a:lnSpc>
                <a:spcPts val="5600"/>
              </a:lnSpc>
              <a:spcBef>
                <a:spcPct val="0"/>
              </a:spcBef>
            </a:pPr>
            <a:r>
              <a:rPr lang="en-US" sz="4000" spc="480" dirty="0">
                <a:solidFill>
                  <a:schemeClr val="tx2">
                    <a:lumMod val="75000"/>
                  </a:schemeClr>
                </a:solidFill>
                <a:latin typeface="Lustria"/>
                <a:ea typeface="Lustria"/>
                <a:cs typeface="Lustria"/>
                <a:sym typeface="Lustria"/>
              </a:rPr>
              <a:t>INTRODUCTION:</a:t>
            </a:r>
          </a:p>
        </p:txBody>
      </p:sp>
      <p:sp>
        <p:nvSpPr>
          <p:cNvPr id="10" name="TextBox 10"/>
          <p:cNvSpPr txBox="1"/>
          <p:nvPr/>
        </p:nvSpPr>
        <p:spPr>
          <a:xfrm>
            <a:off x="838200" y="2247900"/>
            <a:ext cx="10900164" cy="7370672"/>
          </a:xfrm>
          <a:prstGeom prst="rect">
            <a:avLst/>
          </a:prstGeom>
        </p:spPr>
        <p:txBody>
          <a:bodyPr lIns="0" tIns="0" rIns="0" bIns="0" rtlCol="0" anchor="t">
            <a:spAutoFit/>
          </a:bodyPr>
          <a:lstStyle/>
          <a:p>
            <a:pPr>
              <a:lnSpc>
                <a:spcPts val="3518"/>
              </a:lnSpc>
              <a:spcBef>
                <a:spcPct val="0"/>
              </a:spcBef>
            </a:pPr>
            <a:r>
              <a:rPr lang="fr-FR" sz="2800" b="1" dirty="0" err="1"/>
              <a:t>TechStore</a:t>
            </a:r>
            <a:r>
              <a:rPr lang="fr-FR" sz="2800" dirty="0"/>
              <a:t> Dashboard est une application Web de type </a:t>
            </a:r>
            <a:r>
              <a:rPr lang="fr-FR" sz="2800" b="1" dirty="0"/>
              <a:t>Backoffice Dashboard</a:t>
            </a:r>
            <a:r>
              <a:rPr lang="fr-FR" sz="2800" dirty="0"/>
              <a:t>, conçue pour gérer les produits et catégories, visualiser des statistiques et intégrer des données externes via une API.</a:t>
            </a:r>
          </a:p>
          <a:p>
            <a:pPr>
              <a:lnSpc>
                <a:spcPts val="3518"/>
              </a:lnSpc>
              <a:spcBef>
                <a:spcPct val="0"/>
              </a:spcBef>
            </a:pPr>
            <a:endParaRPr lang="fr-FR" sz="2800" dirty="0"/>
          </a:p>
          <a:p>
            <a:r>
              <a:rPr lang="fr-FR" sz="2800" b="1" i="1" u="sng" dirty="0">
                <a:effectLst>
                  <a:outerShdw blurRad="38100" dist="38100" dir="2700000" algn="tl">
                    <a:srgbClr val="000000">
                      <a:alpha val="43137"/>
                    </a:srgbClr>
                  </a:outerShdw>
                </a:effectLst>
              </a:rPr>
              <a:t>Objectifs :</a:t>
            </a:r>
          </a:p>
          <a:p>
            <a:pPr marL="457200" indent="-457200">
              <a:buFont typeface="Arial" panose="020B0604020202020204" pitchFamily="34" charset="0"/>
              <a:buChar char="•"/>
            </a:pPr>
            <a:r>
              <a:rPr lang="fr-FR" sz="2800" dirty="0"/>
              <a:t>Permettre la gestion complète des produits.</a:t>
            </a:r>
          </a:p>
          <a:p>
            <a:pPr marL="457200" indent="-457200">
              <a:buFont typeface="Arial" panose="020B0604020202020204" pitchFamily="34" charset="0"/>
              <a:buChar char="•"/>
            </a:pPr>
            <a:r>
              <a:rPr lang="fr-FR" sz="2800" dirty="0"/>
              <a:t>Afficher des indicateurs clés de performance (KPI).</a:t>
            </a:r>
          </a:p>
          <a:p>
            <a:pPr marL="457200" indent="-457200">
              <a:buFont typeface="Arial" panose="020B0604020202020204" pitchFamily="34" charset="0"/>
              <a:buChar char="•"/>
            </a:pPr>
            <a:r>
              <a:rPr lang="fr-FR" sz="2800" dirty="0"/>
              <a:t>Intégrer des données depuis une API externe.</a:t>
            </a:r>
          </a:p>
          <a:p>
            <a:pPr marL="457200" indent="-457200">
              <a:buFont typeface="Arial" panose="020B0604020202020204" pitchFamily="34" charset="0"/>
              <a:buChar char="•"/>
            </a:pPr>
            <a:endParaRPr lang="fr-FR" sz="2800" dirty="0">
              <a:effectLst>
                <a:outerShdw blurRad="38100" dist="38100" dir="2700000" algn="tl">
                  <a:srgbClr val="000000">
                    <a:alpha val="43137"/>
                  </a:srgbClr>
                </a:outerShdw>
              </a:effectLst>
            </a:endParaRPr>
          </a:p>
          <a:p>
            <a:r>
              <a:rPr lang="fr-FR" sz="2800" b="1" i="1" u="sng" dirty="0">
                <a:effectLst>
                  <a:outerShdw blurRad="38100" dist="38100" dir="2700000" algn="tl">
                    <a:srgbClr val="000000">
                      <a:alpha val="43137"/>
                    </a:srgbClr>
                  </a:outerShdw>
                </a:effectLst>
              </a:rPr>
              <a:t>Technologies utilisées :</a:t>
            </a:r>
          </a:p>
          <a:p>
            <a:pPr marL="457200" indent="-457200">
              <a:buFont typeface="Arial" panose="020B0604020202020204" pitchFamily="34" charset="0"/>
              <a:buChar char="•"/>
            </a:pPr>
            <a:r>
              <a:rPr lang="fr-FR" sz="2800" dirty="0"/>
              <a:t>HTML5, CSS3, JavaScript.</a:t>
            </a:r>
          </a:p>
          <a:p>
            <a:pPr marL="457200" indent="-457200">
              <a:buFont typeface="Arial" panose="020B0604020202020204" pitchFamily="34" charset="0"/>
              <a:buChar char="•"/>
            </a:pPr>
            <a:r>
              <a:rPr lang="fr-FR" sz="2800" dirty="0"/>
              <a:t>Chart.js pour les graphiques.</a:t>
            </a:r>
          </a:p>
          <a:p>
            <a:pPr marL="457200" indent="-457200">
              <a:buFont typeface="Arial" panose="020B0604020202020204" pitchFamily="34" charset="0"/>
              <a:buChar char="•"/>
            </a:pPr>
            <a:r>
              <a:rPr lang="fr-FR" sz="2800" dirty="0" err="1"/>
              <a:t>Fetch</a:t>
            </a:r>
            <a:r>
              <a:rPr lang="fr-FR" sz="2800" dirty="0"/>
              <a:t> API pour récupérer et traiter les données.</a:t>
            </a:r>
          </a:p>
          <a:p>
            <a:endParaRPr lang="fr-FR" sz="2800" dirty="0"/>
          </a:p>
          <a:p>
            <a:pPr>
              <a:lnSpc>
                <a:spcPts val="3518"/>
              </a:lnSpc>
              <a:spcBef>
                <a:spcPct val="0"/>
              </a:spcBef>
            </a:pPr>
            <a:endParaRPr lang="fr-FR" sz="2800" dirty="0"/>
          </a:p>
          <a:p>
            <a:br>
              <a:rPr lang="fr-FR" sz="2800" dirty="0"/>
            </a:br>
            <a:endParaRPr lang="en-US" sz="2513" dirty="0">
              <a:solidFill>
                <a:srgbClr val="000000"/>
              </a:solidFill>
              <a:latin typeface="Inria Serif"/>
              <a:ea typeface="Inria Serif"/>
              <a:cs typeface="Inria Serif"/>
              <a:sym typeface="Inria Serif"/>
            </a:endParaRPr>
          </a:p>
        </p:txBody>
      </p:sp>
      <p:sp>
        <p:nvSpPr>
          <p:cNvPr id="11" name="TextBox 11"/>
          <p:cNvSpPr txBox="1"/>
          <p:nvPr/>
        </p:nvSpPr>
        <p:spPr>
          <a:xfrm>
            <a:off x="1702419" y="8724335"/>
            <a:ext cx="3988030" cy="306705"/>
          </a:xfrm>
          <a:prstGeom prst="rect">
            <a:avLst/>
          </a:prstGeom>
        </p:spPr>
        <p:txBody>
          <a:bodyPr lIns="0" tIns="0" rIns="0" bIns="0" rtlCol="0" anchor="t">
            <a:spAutoFit/>
          </a:bodyPr>
          <a:lstStyle/>
          <a:p>
            <a:pPr algn="l">
              <a:lnSpc>
                <a:spcPts val="2520"/>
              </a:lnSpc>
              <a:spcBef>
                <a:spcPct val="0"/>
              </a:spcBef>
            </a:pPr>
            <a:r>
              <a:rPr lang="en-US" sz="1800" spc="118">
                <a:solidFill>
                  <a:srgbClr val="000000"/>
                </a:solidFill>
                <a:latin typeface="Lustria"/>
                <a:ea typeface="Lustria"/>
                <a:cs typeface="Lustria"/>
                <a:sym typeface="Lustria"/>
              </a:rPr>
              <a:t>PAGE 3</a:t>
            </a:r>
          </a:p>
        </p:txBody>
      </p:sp>
      <p:pic>
        <p:nvPicPr>
          <p:cNvPr id="14" name="Image 13">
            <a:extLst>
              <a:ext uri="{FF2B5EF4-FFF2-40B4-BE49-F238E27FC236}">
                <a16:creationId xmlns:a16="http://schemas.microsoft.com/office/drawing/2014/main" id="{F6368CD8-581E-DA73-A106-B622659383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225418" y="2710412"/>
            <a:ext cx="5009173" cy="447502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9F5"/>
        </a:solidFill>
        <a:effectLst/>
      </p:bgPr>
    </p:bg>
    <p:spTree>
      <p:nvGrpSpPr>
        <p:cNvPr id="1" name=""/>
        <p:cNvGrpSpPr/>
        <p:nvPr/>
      </p:nvGrpSpPr>
      <p:grpSpPr>
        <a:xfrm>
          <a:off x="0" y="0"/>
          <a:ext cx="0" cy="0"/>
          <a:chOff x="0" y="0"/>
          <a:chExt cx="0" cy="0"/>
        </a:xfrm>
      </p:grpSpPr>
      <p:grpSp>
        <p:nvGrpSpPr>
          <p:cNvPr id="2" name="Group 2"/>
          <p:cNvGrpSpPr/>
          <p:nvPr/>
        </p:nvGrpSpPr>
        <p:grpSpPr>
          <a:xfrm>
            <a:off x="1099600" y="9190597"/>
            <a:ext cx="16230600" cy="723153"/>
            <a:chOff x="0" y="0"/>
            <a:chExt cx="4274726" cy="190460"/>
          </a:xfrm>
        </p:grpSpPr>
        <p:sp>
          <p:nvSpPr>
            <p:cNvPr id="3" name="Freeform 3"/>
            <p:cNvSpPr/>
            <p:nvPr/>
          </p:nvSpPr>
          <p:spPr>
            <a:xfrm>
              <a:off x="0" y="0"/>
              <a:ext cx="4274726" cy="190460"/>
            </a:xfrm>
            <a:custGeom>
              <a:avLst/>
              <a:gdLst/>
              <a:ahLst/>
              <a:cxnLst/>
              <a:rect l="l" t="t" r="r" b="b"/>
              <a:pathLst>
                <a:path w="4274726" h="190460">
                  <a:moveTo>
                    <a:pt x="0" y="0"/>
                  </a:moveTo>
                  <a:lnTo>
                    <a:pt x="4274726" y="0"/>
                  </a:lnTo>
                  <a:lnTo>
                    <a:pt x="4274726" y="190460"/>
                  </a:lnTo>
                  <a:lnTo>
                    <a:pt x="0" y="190460"/>
                  </a:lnTo>
                  <a:close/>
                </a:path>
              </a:pathLst>
            </a:custGeom>
            <a:solidFill>
              <a:srgbClr val="000000">
                <a:alpha val="0"/>
              </a:srgbClr>
            </a:solidFill>
            <a:ln w="19050" cap="sq">
              <a:solidFill>
                <a:srgbClr val="000000"/>
              </a:solidFill>
              <a:prstDash val="solid"/>
              <a:miter/>
            </a:ln>
          </p:spPr>
        </p:sp>
        <p:sp>
          <p:nvSpPr>
            <p:cNvPr id="4" name="TextBox 4"/>
            <p:cNvSpPr txBox="1"/>
            <p:nvPr/>
          </p:nvSpPr>
          <p:spPr>
            <a:xfrm>
              <a:off x="0" y="-38100"/>
              <a:ext cx="4274726" cy="228560"/>
            </a:xfrm>
            <a:prstGeom prst="rect">
              <a:avLst/>
            </a:prstGeom>
          </p:spPr>
          <p:txBody>
            <a:bodyPr lIns="50800" tIns="50800" rIns="50800" bIns="50800" rtlCol="0" anchor="ctr"/>
            <a:lstStyle/>
            <a:p>
              <a:pPr algn="ctr">
                <a:lnSpc>
                  <a:spcPts val="2659"/>
                </a:lnSpc>
                <a:spcBef>
                  <a:spcPct val="0"/>
                </a:spcBef>
              </a:pPr>
              <a:endParaRPr/>
            </a:p>
          </p:txBody>
        </p:sp>
      </p:grpSp>
      <p:sp>
        <p:nvSpPr>
          <p:cNvPr id="9" name="TextBox 9"/>
          <p:cNvSpPr txBox="1"/>
          <p:nvPr/>
        </p:nvSpPr>
        <p:spPr>
          <a:xfrm>
            <a:off x="1099600" y="250892"/>
            <a:ext cx="10210800" cy="669222"/>
          </a:xfrm>
          <a:prstGeom prst="rect">
            <a:avLst/>
          </a:prstGeom>
        </p:spPr>
        <p:txBody>
          <a:bodyPr wrap="square" lIns="0" tIns="0" rIns="0" bIns="0" rtlCol="0" anchor="t">
            <a:spAutoFit/>
          </a:bodyPr>
          <a:lstStyle/>
          <a:p>
            <a:pPr>
              <a:lnSpc>
                <a:spcPts val="5600"/>
              </a:lnSpc>
              <a:spcBef>
                <a:spcPct val="0"/>
              </a:spcBef>
            </a:pPr>
            <a:r>
              <a:rPr lang="fr-FR" sz="4400" dirty="0">
                <a:solidFill>
                  <a:schemeClr val="tx2">
                    <a:lumMod val="75000"/>
                  </a:schemeClr>
                </a:solidFill>
                <a:latin typeface="Georgia" panose="02040502050405020303" pitchFamily="18" charset="0"/>
              </a:rPr>
              <a:t>STRUCTURE DE L’APPLICATION:</a:t>
            </a:r>
            <a:endParaRPr lang="en-US" sz="4400" b="1" i="1" spc="480" dirty="0">
              <a:solidFill>
                <a:schemeClr val="tx2">
                  <a:lumMod val="75000"/>
                </a:schemeClr>
              </a:solidFill>
              <a:latin typeface="Georgia" panose="02040502050405020303" pitchFamily="18" charset="0"/>
              <a:ea typeface="Lustria"/>
              <a:cs typeface="Andalus" panose="02020603050405020304" pitchFamily="18" charset="-78"/>
              <a:sym typeface="Lustria"/>
            </a:endParaRPr>
          </a:p>
        </p:txBody>
      </p:sp>
      <p:sp>
        <p:nvSpPr>
          <p:cNvPr id="10" name="TextBox 10"/>
          <p:cNvSpPr txBox="1"/>
          <p:nvPr/>
        </p:nvSpPr>
        <p:spPr>
          <a:xfrm>
            <a:off x="7976226" y="1201893"/>
            <a:ext cx="9242654" cy="8617744"/>
          </a:xfrm>
          <a:prstGeom prst="rect">
            <a:avLst/>
          </a:prstGeom>
        </p:spPr>
        <p:txBody>
          <a:bodyPr wrap="square" lIns="0" tIns="0" rIns="0" bIns="0" rtlCol="0" anchor="t">
            <a:spAutoFit/>
          </a:bodyPr>
          <a:lstStyle/>
          <a:p>
            <a:r>
              <a:rPr lang="fr-FR" sz="2800" dirty="0"/>
              <a:t>L’application est une </a:t>
            </a:r>
            <a:r>
              <a:rPr lang="fr-FR" sz="2800" b="1" dirty="0"/>
              <a:t>Single Page Application (SPA)</a:t>
            </a:r>
            <a:r>
              <a:rPr lang="fr-FR" sz="2800" dirty="0"/>
              <a:t> avec :</a:t>
            </a:r>
          </a:p>
          <a:p>
            <a:endParaRPr lang="fr-FR" sz="2800" dirty="0"/>
          </a:p>
          <a:p>
            <a:r>
              <a:rPr lang="fr-FR" sz="3200" b="1" i="1" dirty="0">
                <a:effectLst>
                  <a:outerShdw blurRad="38100" dist="38100" dir="2700000" algn="tl">
                    <a:srgbClr val="000000">
                      <a:alpha val="43137"/>
                    </a:srgbClr>
                  </a:outerShdw>
                </a:effectLst>
              </a:rPr>
              <a:t>Une section Dashboard avec KPI et graphiques:</a:t>
            </a:r>
          </a:p>
          <a:p>
            <a:pPr lvl="0" eaLnBrk="0" fontAlgn="base" hangingPunct="0">
              <a:spcBef>
                <a:spcPct val="0"/>
              </a:spcBef>
              <a:spcAft>
                <a:spcPct val="0"/>
              </a:spcAft>
              <a:buFontTx/>
              <a:buChar char="•"/>
            </a:pPr>
            <a:r>
              <a:rPr lang="fr-FR" altLang="fr-FR" sz="2400" b="1" dirty="0">
                <a:latin typeface="Arial" panose="020B0604020202020204" pitchFamily="34" charset="0"/>
              </a:rPr>
              <a:t>KPI (Key Performance </a:t>
            </a:r>
            <a:r>
              <a:rPr lang="fr-FR" altLang="fr-FR" sz="2400" b="1" dirty="0" err="1">
                <a:latin typeface="Arial" panose="020B0604020202020204" pitchFamily="34" charset="0"/>
              </a:rPr>
              <a:t>Indicators</a:t>
            </a:r>
            <a:r>
              <a:rPr lang="fr-FR" altLang="fr-FR" sz="2400" b="1" dirty="0">
                <a:latin typeface="Arial" panose="020B0604020202020204" pitchFamily="34" charset="0"/>
              </a:rPr>
              <a:t>)</a:t>
            </a:r>
            <a:r>
              <a:rPr lang="fr-FR" altLang="fr-FR" sz="2400" dirty="0">
                <a:latin typeface="Arial" panose="020B0604020202020204" pitchFamily="34" charset="0"/>
              </a:rPr>
              <a:t> : indicateurs clés comme le nombre total de produits, le prix minimum, moyen et maximum.</a:t>
            </a:r>
          </a:p>
          <a:p>
            <a:pPr lvl="0" eaLnBrk="0" fontAlgn="base" hangingPunct="0">
              <a:spcBef>
                <a:spcPct val="0"/>
              </a:spcBef>
              <a:spcAft>
                <a:spcPct val="0"/>
              </a:spcAft>
              <a:buFontTx/>
              <a:buChar char="•"/>
            </a:pPr>
            <a:r>
              <a:rPr lang="fr-FR" altLang="fr-FR" sz="2400" b="1" dirty="0">
                <a:latin typeface="Arial" panose="020B0604020202020204" pitchFamily="34" charset="0"/>
              </a:rPr>
              <a:t>Graphiques (Chart.js)</a:t>
            </a:r>
            <a:r>
              <a:rPr lang="fr-FR" altLang="fr-FR" sz="2400" dirty="0">
                <a:latin typeface="Arial" panose="020B0604020202020204" pitchFamily="34" charset="0"/>
              </a:rPr>
              <a:t> : visualisation des tendances, comme le prix des produits ou le nombre de visiteurs simulés.</a:t>
            </a:r>
          </a:p>
          <a:p>
            <a:endParaRPr lang="fr-FR" sz="2800" b="1" i="1" u="sng" dirty="0"/>
          </a:p>
          <a:p>
            <a:r>
              <a:rPr lang="fr-FR" sz="2800" dirty="0"/>
              <a:t>Permet à l’utilisateur de </a:t>
            </a:r>
            <a:r>
              <a:rPr lang="fr-FR" sz="2800" b="1" dirty="0"/>
              <a:t>prendre rapidement des décisions</a:t>
            </a:r>
            <a:r>
              <a:rPr lang="fr-FR" sz="2800" dirty="0"/>
              <a:t> basées sur les données affichées.</a:t>
            </a:r>
          </a:p>
          <a:p>
            <a:endParaRPr lang="fr-FR" sz="2800" b="1" i="1" u="sng" dirty="0"/>
          </a:p>
          <a:p>
            <a:r>
              <a:rPr lang="fr-FR" sz="3200" b="1" i="1" dirty="0">
                <a:effectLst>
                  <a:outerShdw blurRad="38100" dist="38100" dir="2700000" algn="tl">
                    <a:srgbClr val="000000">
                      <a:alpha val="43137"/>
                    </a:srgbClr>
                  </a:outerShdw>
                </a:effectLst>
              </a:rPr>
              <a:t>Gestion complète des produits (CRUD):</a:t>
            </a:r>
          </a:p>
          <a:p>
            <a:pPr lvl="0" eaLnBrk="0" fontAlgn="base" hangingPunct="0">
              <a:spcBef>
                <a:spcPct val="0"/>
              </a:spcBef>
              <a:spcAft>
                <a:spcPct val="0"/>
              </a:spcAft>
              <a:buFontTx/>
              <a:buChar char="•"/>
            </a:pPr>
            <a:r>
              <a:rPr lang="fr-FR" altLang="fr-FR" sz="2400" b="1" dirty="0">
                <a:latin typeface="Arial" panose="020B0604020202020204" pitchFamily="34" charset="0"/>
              </a:rPr>
              <a:t>Créer</a:t>
            </a:r>
            <a:r>
              <a:rPr lang="fr-FR" altLang="fr-FR" sz="2400" dirty="0">
                <a:latin typeface="Arial" panose="020B0604020202020204" pitchFamily="34" charset="0"/>
              </a:rPr>
              <a:t> : ajouter un nouveau produit via un formulaire.</a:t>
            </a:r>
          </a:p>
          <a:p>
            <a:pPr lvl="0" eaLnBrk="0" fontAlgn="base" hangingPunct="0">
              <a:spcBef>
                <a:spcPct val="0"/>
              </a:spcBef>
              <a:spcAft>
                <a:spcPct val="0"/>
              </a:spcAft>
              <a:buFontTx/>
              <a:buChar char="•"/>
            </a:pPr>
            <a:r>
              <a:rPr lang="fr-FR" altLang="fr-FR" sz="2400" b="1" dirty="0">
                <a:latin typeface="Arial" panose="020B0604020202020204" pitchFamily="34" charset="0"/>
              </a:rPr>
              <a:t>Lire</a:t>
            </a:r>
            <a:r>
              <a:rPr lang="fr-FR" altLang="fr-FR" sz="2400" dirty="0">
                <a:latin typeface="Arial" panose="020B0604020202020204" pitchFamily="34" charset="0"/>
              </a:rPr>
              <a:t> : afficher tous les produits dans un tableau dynamique.</a:t>
            </a:r>
          </a:p>
          <a:p>
            <a:pPr lvl="0" eaLnBrk="0" fontAlgn="base" hangingPunct="0">
              <a:spcBef>
                <a:spcPct val="0"/>
              </a:spcBef>
              <a:spcAft>
                <a:spcPct val="0"/>
              </a:spcAft>
              <a:buFontTx/>
              <a:buChar char="•"/>
            </a:pPr>
            <a:r>
              <a:rPr lang="fr-FR" altLang="fr-FR" sz="2400" b="1" dirty="0">
                <a:latin typeface="Arial" panose="020B0604020202020204" pitchFamily="34" charset="0"/>
              </a:rPr>
              <a:t>Mettre à jour</a:t>
            </a:r>
            <a:r>
              <a:rPr lang="fr-FR" altLang="fr-FR" sz="2400" dirty="0">
                <a:latin typeface="Arial" panose="020B0604020202020204" pitchFamily="34" charset="0"/>
              </a:rPr>
              <a:t> : modifier les informations d’un produit existant.</a:t>
            </a:r>
          </a:p>
          <a:p>
            <a:pPr lvl="0" eaLnBrk="0" fontAlgn="base" hangingPunct="0">
              <a:spcBef>
                <a:spcPct val="0"/>
              </a:spcBef>
              <a:spcAft>
                <a:spcPct val="0"/>
              </a:spcAft>
              <a:buFontTx/>
              <a:buChar char="•"/>
            </a:pPr>
            <a:r>
              <a:rPr lang="fr-FR" altLang="fr-FR" sz="2400" b="1" dirty="0">
                <a:latin typeface="Arial" panose="020B0604020202020204" pitchFamily="34" charset="0"/>
              </a:rPr>
              <a:t>Supprimer</a:t>
            </a:r>
            <a:r>
              <a:rPr lang="fr-FR" altLang="fr-FR" sz="2400" dirty="0">
                <a:latin typeface="Arial" panose="020B0604020202020204" pitchFamily="34" charset="0"/>
              </a:rPr>
              <a:t> : retirer un produit de la liste avec confirmation.</a:t>
            </a:r>
          </a:p>
          <a:p>
            <a:pPr lvl="0" eaLnBrk="0" fontAlgn="base" hangingPunct="0">
              <a:spcBef>
                <a:spcPct val="0"/>
              </a:spcBef>
              <a:spcAft>
                <a:spcPct val="0"/>
              </a:spcAft>
              <a:buFontTx/>
              <a:buChar char="•"/>
            </a:pPr>
            <a:endParaRPr lang="fr-FR" altLang="fr-FR" sz="2400" dirty="0">
              <a:latin typeface="Arial" panose="020B0604020202020204" pitchFamily="34" charset="0"/>
            </a:endParaRPr>
          </a:p>
          <a:p>
            <a:r>
              <a:rPr lang="fr-FR" sz="2800" dirty="0"/>
              <a:t>Les changements sont </a:t>
            </a:r>
            <a:r>
              <a:rPr lang="fr-FR" sz="2800" b="1" dirty="0"/>
              <a:t>instantanément reflétés dans les KPI et le tableau</a:t>
            </a:r>
            <a:r>
              <a:rPr lang="fr-FR" sz="2800" dirty="0"/>
              <a:t>, offrant une interface interactive.</a:t>
            </a:r>
            <a:endParaRPr lang="fr-FR" sz="2800" b="1" i="1" dirty="0">
              <a:effectLst>
                <a:outerShdw blurRad="38100" dist="38100" dir="2700000" algn="tl">
                  <a:srgbClr val="000000">
                    <a:alpha val="43137"/>
                  </a:srgbClr>
                </a:outerShdw>
              </a:effectLst>
            </a:endParaRPr>
          </a:p>
          <a:p>
            <a:endParaRPr lang="fr-FR" sz="2800" b="1" i="1" dirty="0">
              <a:effectLst>
                <a:outerShdw blurRad="38100" dist="38100" dir="2700000" algn="tl">
                  <a:srgbClr val="000000">
                    <a:alpha val="43137"/>
                  </a:srgbClr>
                </a:outerShdw>
              </a:effectLst>
            </a:endParaRPr>
          </a:p>
          <a:p>
            <a:endParaRPr lang="fr-FR" sz="2800" b="1" i="1" dirty="0">
              <a:effectLst>
                <a:outerShdw blurRad="38100" dist="38100" dir="2700000" algn="tl">
                  <a:srgbClr val="000000">
                    <a:alpha val="43137"/>
                  </a:srgbClr>
                </a:outerShdw>
              </a:effectLst>
            </a:endParaRPr>
          </a:p>
        </p:txBody>
      </p:sp>
      <p:sp>
        <p:nvSpPr>
          <p:cNvPr id="11" name="TextBox 11"/>
          <p:cNvSpPr txBox="1"/>
          <p:nvPr/>
        </p:nvSpPr>
        <p:spPr>
          <a:xfrm>
            <a:off x="1447800" y="9419914"/>
            <a:ext cx="3988030" cy="306678"/>
          </a:xfrm>
          <a:prstGeom prst="rect">
            <a:avLst/>
          </a:prstGeom>
        </p:spPr>
        <p:txBody>
          <a:bodyPr lIns="0" tIns="0" rIns="0" bIns="0" rtlCol="0" anchor="t">
            <a:spAutoFit/>
          </a:bodyPr>
          <a:lstStyle/>
          <a:p>
            <a:pPr algn="l">
              <a:lnSpc>
                <a:spcPts val="2520"/>
              </a:lnSpc>
              <a:spcBef>
                <a:spcPct val="0"/>
              </a:spcBef>
            </a:pPr>
            <a:r>
              <a:rPr lang="en-US" sz="1800" spc="118" dirty="0">
                <a:solidFill>
                  <a:srgbClr val="000000"/>
                </a:solidFill>
                <a:latin typeface="Lustria"/>
                <a:ea typeface="Lustria"/>
                <a:cs typeface="Lustria"/>
                <a:sym typeface="Lustria"/>
              </a:rPr>
              <a:t>PAGE 5</a:t>
            </a:r>
          </a:p>
        </p:txBody>
      </p:sp>
      <p:pic>
        <p:nvPicPr>
          <p:cNvPr id="12" name="Image 11">
            <a:extLst>
              <a:ext uri="{FF2B5EF4-FFF2-40B4-BE49-F238E27FC236}">
                <a16:creationId xmlns:a16="http://schemas.microsoft.com/office/drawing/2014/main" id="{BA1826D6-54CD-C6EE-7D2A-9DED09359C5A}"/>
              </a:ext>
            </a:extLst>
          </p:cNvPr>
          <p:cNvPicPr>
            <a:picLocks noChangeAspect="1"/>
          </p:cNvPicPr>
          <p:nvPr/>
        </p:nvPicPr>
        <p:blipFill>
          <a:blip r:embed="rId2"/>
          <a:stretch>
            <a:fillRect/>
          </a:stretch>
        </p:blipFill>
        <p:spPr>
          <a:xfrm rot="1052777">
            <a:off x="788102" y="1702732"/>
            <a:ext cx="4407779" cy="5183095"/>
          </a:xfrm>
          <a:prstGeom prst="rect">
            <a:avLst/>
          </a:prstGeom>
        </p:spPr>
      </p:pic>
      <p:pic>
        <p:nvPicPr>
          <p:cNvPr id="14" name="Image 13">
            <a:extLst>
              <a:ext uri="{FF2B5EF4-FFF2-40B4-BE49-F238E27FC236}">
                <a16:creationId xmlns:a16="http://schemas.microsoft.com/office/drawing/2014/main" id="{4C29BE01-C6B2-93B0-6793-41D2163AC722}"/>
              </a:ext>
            </a:extLst>
          </p:cNvPr>
          <p:cNvPicPr>
            <a:picLocks noChangeAspect="1"/>
          </p:cNvPicPr>
          <p:nvPr/>
        </p:nvPicPr>
        <p:blipFill>
          <a:blip r:embed="rId3"/>
          <a:stretch>
            <a:fillRect/>
          </a:stretch>
        </p:blipFill>
        <p:spPr>
          <a:xfrm>
            <a:off x="2456331" y="3543300"/>
            <a:ext cx="4163164" cy="445975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9F5"/>
        </a:solidFill>
        <a:effectLst/>
      </p:bgPr>
    </p:bg>
    <p:spTree>
      <p:nvGrpSpPr>
        <p:cNvPr id="1" name=""/>
        <p:cNvGrpSpPr/>
        <p:nvPr/>
      </p:nvGrpSpPr>
      <p:grpSpPr>
        <a:xfrm>
          <a:off x="0" y="0"/>
          <a:ext cx="0" cy="0"/>
          <a:chOff x="0" y="0"/>
          <a:chExt cx="0" cy="0"/>
        </a:xfrm>
      </p:grpSpPr>
      <p:grpSp>
        <p:nvGrpSpPr>
          <p:cNvPr id="2" name="Group 2"/>
          <p:cNvGrpSpPr/>
          <p:nvPr/>
        </p:nvGrpSpPr>
        <p:grpSpPr>
          <a:xfrm>
            <a:off x="1028700" y="8535147"/>
            <a:ext cx="16230600" cy="723153"/>
            <a:chOff x="0" y="0"/>
            <a:chExt cx="4274726" cy="190460"/>
          </a:xfrm>
        </p:grpSpPr>
        <p:sp>
          <p:nvSpPr>
            <p:cNvPr id="3" name="Freeform 3"/>
            <p:cNvSpPr/>
            <p:nvPr/>
          </p:nvSpPr>
          <p:spPr>
            <a:xfrm>
              <a:off x="0" y="0"/>
              <a:ext cx="4274726" cy="190460"/>
            </a:xfrm>
            <a:custGeom>
              <a:avLst/>
              <a:gdLst/>
              <a:ahLst/>
              <a:cxnLst/>
              <a:rect l="l" t="t" r="r" b="b"/>
              <a:pathLst>
                <a:path w="4274726" h="190460">
                  <a:moveTo>
                    <a:pt x="0" y="0"/>
                  </a:moveTo>
                  <a:lnTo>
                    <a:pt x="4274726" y="0"/>
                  </a:lnTo>
                  <a:lnTo>
                    <a:pt x="4274726" y="190460"/>
                  </a:lnTo>
                  <a:lnTo>
                    <a:pt x="0" y="190460"/>
                  </a:lnTo>
                  <a:close/>
                </a:path>
              </a:pathLst>
            </a:custGeom>
            <a:solidFill>
              <a:srgbClr val="000000">
                <a:alpha val="0"/>
              </a:srgbClr>
            </a:solidFill>
            <a:ln w="19050" cap="sq">
              <a:solidFill>
                <a:srgbClr val="000000"/>
              </a:solidFill>
              <a:prstDash val="solid"/>
              <a:miter/>
            </a:ln>
          </p:spPr>
        </p:sp>
        <p:sp>
          <p:nvSpPr>
            <p:cNvPr id="4" name="TextBox 4"/>
            <p:cNvSpPr txBox="1"/>
            <p:nvPr/>
          </p:nvSpPr>
          <p:spPr>
            <a:xfrm>
              <a:off x="0" y="-38100"/>
              <a:ext cx="4274726" cy="228560"/>
            </a:xfrm>
            <a:prstGeom prst="rect">
              <a:avLst/>
            </a:prstGeom>
          </p:spPr>
          <p:txBody>
            <a:bodyPr lIns="50800" tIns="50800" rIns="50800" bIns="50800" rtlCol="0" anchor="ctr"/>
            <a:lstStyle/>
            <a:p>
              <a:pPr algn="ctr">
                <a:lnSpc>
                  <a:spcPts val="2659"/>
                </a:lnSpc>
                <a:spcBef>
                  <a:spcPct val="0"/>
                </a:spcBef>
              </a:pPr>
              <a:endParaRPr/>
            </a:p>
          </p:txBody>
        </p:sp>
      </p:grpSp>
      <p:sp>
        <p:nvSpPr>
          <p:cNvPr id="34" name="TextBox 34"/>
          <p:cNvSpPr txBox="1"/>
          <p:nvPr/>
        </p:nvSpPr>
        <p:spPr>
          <a:xfrm>
            <a:off x="457200" y="359478"/>
            <a:ext cx="9791700" cy="669222"/>
          </a:xfrm>
          <a:prstGeom prst="rect">
            <a:avLst/>
          </a:prstGeom>
        </p:spPr>
        <p:txBody>
          <a:bodyPr wrap="square" lIns="0" tIns="0" rIns="0" bIns="0" rtlCol="0" anchor="t">
            <a:spAutoFit/>
          </a:bodyPr>
          <a:lstStyle/>
          <a:p>
            <a:pPr>
              <a:lnSpc>
                <a:spcPts val="5600"/>
              </a:lnSpc>
              <a:spcBef>
                <a:spcPct val="0"/>
              </a:spcBef>
            </a:pPr>
            <a:r>
              <a:rPr lang="fr-FR" sz="4400" dirty="0">
                <a:solidFill>
                  <a:schemeClr val="tx2">
                    <a:lumMod val="75000"/>
                  </a:schemeClr>
                </a:solidFill>
                <a:latin typeface="Georgia" panose="02040502050405020303" pitchFamily="18" charset="0"/>
              </a:rPr>
              <a:t>Produits (CRUD complet):</a:t>
            </a:r>
            <a:endParaRPr lang="en-US" sz="4000" spc="480" dirty="0">
              <a:solidFill>
                <a:schemeClr val="tx2">
                  <a:lumMod val="75000"/>
                </a:schemeClr>
              </a:solidFill>
              <a:latin typeface="Georgia" panose="02040502050405020303" pitchFamily="18" charset="0"/>
              <a:ea typeface="Lustria"/>
              <a:cs typeface="Lustria"/>
              <a:sym typeface="Lustria"/>
            </a:endParaRPr>
          </a:p>
        </p:txBody>
      </p:sp>
      <p:sp>
        <p:nvSpPr>
          <p:cNvPr id="44" name="TextBox 44"/>
          <p:cNvSpPr txBox="1"/>
          <p:nvPr/>
        </p:nvSpPr>
        <p:spPr>
          <a:xfrm>
            <a:off x="1702419" y="8724335"/>
            <a:ext cx="3988030" cy="306678"/>
          </a:xfrm>
          <a:prstGeom prst="rect">
            <a:avLst/>
          </a:prstGeom>
        </p:spPr>
        <p:txBody>
          <a:bodyPr lIns="0" tIns="0" rIns="0" bIns="0" rtlCol="0" anchor="t">
            <a:spAutoFit/>
          </a:bodyPr>
          <a:lstStyle/>
          <a:p>
            <a:pPr algn="l">
              <a:lnSpc>
                <a:spcPts val="2520"/>
              </a:lnSpc>
              <a:spcBef>
                <a:spcPct val="0"/>
              </a:spcBef>
            </a:pPr>
            <a:r>
              <a:rPr lang="en-US" sz="1800" spc="118">
                <a:solidFill>
                  <a:srgbClr val="000000"/>
                </a:solidFill>
                <a:latin typeface="Lustria"/>
                <a:ea typeface="Lustria"/>
                <a:cs typeface="Lustria"/>
                <a:sym typeface="Lustria"/>
              </a:rPr>
              <a:t>PAGE 6</a:t>
            </a:r>
          </a:p>
        </p:txBody>
      </p:sp>
      <p:sp>
        <p:nvSpPr>
          <p:cNvPr id="48" name="ZoneTexte 47">
            <a:extLst>
              <a:ext uri="{FF2B5EF4-FFF2-40B4-BE49-F238E27FC236}">
                <a16:creationId xmlns:a16="http://schemas.microsoft.com/office/drawing/2014/main" id="{3FB1E2AD-4715-4A07-A996-F5ABC246DAD2}"/>
              </a:ext>
            </a:extLst>
          </p:cNvPr>
          <p:cNvSpPr txBox="1"/>
          <p:nvPr/>
        </p:nvSpPr>
        <p:spPr>
          <a:xfrm>
            <a:off x="1524000" y="2407920"/>
            <a:ext cx="13994781" cy="6001643"/>
          </a:xfrm>
          <a:prstGeom prst="rect">
            <a:avLst/>
          </a:prstGeom>
          <a:noFill/>
        </p:spPr>
        <p:txBody>
          <a:bodyPr wrap="square" rtlCol="0">
            <a:spAutoFit/>
          </a:bodyPr>
          <a:lstStyle/>
          <a:p>
            <a:r>
              <a:rPr lang="fr-FR" sz="3200" b="1" i="1" dirty="0">
                <a:effectLst>
                  <a:outerShdw blurRad="38100" dist="38100" dir="2700000" algn="tl">
                    <a:srgbClr val="000000">
                      <a:alpha val="43137"/>
                    </a:srgbClr>
                  </a:outerShdw>
                </a:effectLst>
                <a:latin typeface="Georgia" panose="02040502050405020303" pitchFamily="18" charset="0"/>
              </a:rPr>
              <a:t>Le Module Principal Permet :</a:t>
            </a:r>
          </a:p>
          <a:p>
            <a:pPr marL="457200" indent="-457200">
              <a:buFont typeface="Arial" panose="020B0604020202020204" pitchFamily="34" charset="0"/>
              <a:buChar char="•"/>
            </a:pPr>
            <a:r>
              <a:rPr lang="fr-FR" sz="3200" dirty="0">
                <a:latin typeface="Georgia" panose="02040502050405020303" pitchFamily="18" charset="0"/>
              </a:rPr>
              <a:t>D’</a:t>
            </a:r>
            <a:r>
              <a:rPr lang="fr-FR" sz="3200" b="1" dirty="0">
                <a:latin typeface="Georgia" panose="02040502050405020303" pitchFamily="18" charset="0"/>
              </a:rPr>
              <a:t>ajouter</a:t>
            </a:r>
            <a:r>
              <a:rPr lang="fr-FR" sz="3200" dirty="0">
                <a:latin typeface="Georgia" panose="02040502050405020303" pitchFamily="18" charset="0"/>
              </a:rPr>
              <a:t> un produit via un formulaire simple.</a:t>
            </a:r>
          </a:p>
          <a:p>
            <a:pPr marL="457200" indent="-457200">
              <a:buFont typeface="Arial" panose="020B0604020202020204" pitchFamily="34" charset="0"/>
              <a:buChar char="•"/>
            </a:pPr>
            <a:r>
              <a:rPr lang="fr-FR" sz="3200" dirty="0">
                <a:latin typeface="Georgia" panose="02040502050405020303" pitchFamily="18" charset="0"/>
              </a:rPr>
              <a:t>De </a:t>
            </a:r>
            <a:r>
              <a:rPr lang="fr-FR" sz="3200" b="1" dirty="0">
                <a:latin typeface="Georgia" panose="02040502050405020303" pitchFamily="18" charset="0"/>
              </a:rPr>
              <a:t>modifier </a:t>
            </a:r>
            <a:r>
              <a:rPr lang="fr-FR" sz="3200" dirty="0">
                <a:latin typeface="Georgia" panose="02040502050405020303" pitchFamily="18" charset="0"/>
              </a:rPr>
              <a:t>un produit existant.</a:t>
            </a:r>
          </a:p>
          <a:p>
            <a:pPr marL="457200" indent="-457200">
              <a:buFont typeface="Arial" panose="020B0604020202020204" pitchFamily="34" charset="0"/>
              <a:buChar char="•"/>
            </a:pPr>
            <a:r>
              <a:rPr lang="fr-FR" sz="3200" dirty="0">
                <a:latin typeface="Georgia" panose="02040502050405020303" pitchFamily="18" charset="0"/>
              </a:rPr>
              <a:t>De</a:t>
            </a:r>
            <a:r>
              <a:rPr lang="fr-FR" sz="3200" b="1" dirty="0">
                <a:latin typeface="Georgia" panose="02040502050405020303" pitchFamily="18" charset="0"/>
              </a:rPr>
              <a:t> supprimer </a:t>
            </a:r>
            <a:r>
              <a:rPr lang="fr-FR" sz="3200" dirty="0">
                <a:latin typeface="Georgia" panose="02040502050405020303" pitchFamily="18" charset="0"/>
              </a:rPr>
              <a:t>un produit.</a:t>
            </a:r>
          </a:p>
          <a:p>
            <a:pPr marL="457200" indent="-457200">
              <a:buFont typeface="Arial" panose="020B0604020202020204" pitchFamily="34" charset="0"/>
              <a:buChar char="•"/>
            </a:pPr>
            <a:r>
              <a:rPr lang="fr-FR" sz="3200" dirty="0">
                <a:latin typeface="Georgia" panose="02040502050405020303" pitchFamily="18" charset="0"/>
              </a:rPr>
              <a:t>D’</a:t>
            </a:r>
            <a:r>
              <a:rPr lang="fr-FR" sz="3200" b="1" dirty="0">
                <a:latin typeface="Georgia" panose="02040502050405020303" pitchFamily="18" charset="0"/>
              </a:rPr>
              <a:t>afficher</a:t>
            </a:r>
            <a:r>
              <a:rPr lang="fr-FR" sz="3200" dirty="0">
                <a:latin typeface="Georgia" panose="02040502050405020303" pitchFamily="18" charset="0"/>
              </a:rPr>
              <a:t> dynamiquement les produits dans un tableau.</a:t>
            </a:r>
          </a:p>
          <a:p>
            <a:pPr marL="457200" indent="-457200">
              <a:buFont typeface="Arial" panose="020B0604020202020204" pitchFamily="34" charset="0"/>
              <a:buChar char="•"/>
            </a:pPr>
            <a:r>
              <a:rPr lang="fr-FR" sz="3200" dirty="0">
                <a:latin typeface="Georgia" panose="02040502050405020303" pitchFamily="18" charset="0"/>
              </a:rPr>
              <a:t>De</a:t>
            </a:r>
            <a:r>
              <a:rPr lang="fr-FR" sz="3200" b="1" dirty="0">
                <a:latin typeface="Georgia" panose="02040502050405020303" pitchFamily="18" charset="0"/>
              </a:rPr>
              <a:t> rechercher </a:t>
            </a:r>
            <a:r>
              <a:rPr lang="fr-FR" sz="3200" dirty="0">
                <a:latin typeface="Georgia" panose="02040502050405020303" pitchFamily="18" charset="0"/>
              </a:rPr>
              <a:t>des produits par nom.</a:t>
            </a:r>
          </a:p>
          <a:p>
            <a:pPr marL="457200" indent="-457200">
              <a:buFont typeface="Arial" panose="020B0604020202020204" pitchFamily="34" charset="0"/>
              <a:buChar char="•"/>
            </a:pPr>
            <a:r>
              <a:rPr lang="fr-FR" sz="3200" dirty="0">
                <a:latin typeface="Georgia" panose="02040502050405020303" pitchFamily="18" charset="0"/>
              </a:rPr>
              <a:t>De </a:t>
            </a:r>
            <a:r>
              <a:rPr lang="fr-FR" sz="3200" b="1" dirty="0">
                <a:latin typeface="Georgia" panose="02040502050405020303" pitchFamily="18" charset="0"/>
              </a:rPr>
              <a:t>mettre à jour </a:t>
            </a:r>
            <a:r>
              <a:rPr lang="fr-FR" sz="3200" dirty="0">
                <a:latin typeface="Georgia" panose="02040502050405020303" pitchFamily="18" charset="0"/>
              </a:rPr>
              <a:t>automatiquement les KPI.</a:t>
            </a:r>
          </a:p>
          <a:p>
            <a:endParaRPr lang="fr-FR" sz="3200" dirty="0">
              <a:latin typeface="Georgia" panose="02040502050405020303" pitchFamily="18" charset="0"/>
            </a:endParaRPr>
          </a:p>
          <a:p>
            <a:r>
              <a:rPr lang="fr-FR" sz="3200" b="1" i="1" dirty="0">
                <a:effectLst>
                  <a:outerShdw blurRad="38100" dist="38100" dir="2700000" algn="tl">
                    <a:srgbClr val="000000">
                      <a:alpha val="43137"/>
                    </a:srgbClr>
                  </a:outerShdw>
                </a:effectLst>
                <a:latin typeface="Georgia" panose="02040502050405020303" pitchFamily="18" charset="0"/>
              </a:rPr>
              <a:t>Interface :</a:t>
            </a:r>
          </a:p>
          <a:p>
            <a:pPr marL="457200" indent="-457200">
              <a:buFont typeface="Arial" panose="020B0604020202020204" pitchFamily="34" charset="0"/>
              <a:buChar char="•"/>
            </a:pPr>
            <a:r>
              <a:rPr lang="fr-FR" sz="3200" dirty="0">
                <a:latin typeface="Georgia" panose="02040502050405020303" pitchFamily="18" charset="0"/>
              </a:rPr>
              <a:t>Formulaire avec les champs : Nom, Prix, Rating, Visiteurs, Image.</a:t>
            </a:r>
          </a:p>
          <a:p>
            <a:pPr marL="457200" indent="-457200">
              <a:buFont typeface="Arial" panose="020B0604020202020204" pitchFamily="34" charset="0"/>
              <a:buChar char="•"/>
            </a:pPr>
            <a:r>
              <a:rPr lang="fr-FR" sz="3200" dirty="0">
                <a:latin typeface="Georgia" panose="02040502050405020303" pitchFamily="18" charset="0"/>
              </a:rPr>
              <a:t>Tableau des produits affichés dynamiquement.</a:t>
            </a:r>
          </a:p>
          <a:p>
            <a:endParaRPr lang="fr-FR" sz="3200" dirty="0">
              <a:latin typeface="Georgia" panose="02040502050405020303"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9F5"/>
        </a:solidFill>
        <a:effectLst/>
      </p:bgPr>
    </p:bg>
    <p:spTree>
      <p:nvGrpSpPr>
        <p:cNvPr id="1" name=""/>
        <p:cNvGrpSpPr/>
        <p:nvPr/>
      </p:nvGrpSpPr>
      <p:grpSpPr>
        <a:xfrm>
          <a:off x="0" y="0"/>
          <a:ext cx="0" cy="0"/>
          <a:chOff x="0" y="0"/>
          <a:chExt cx="0" cy="0"/>
        </a:xfrm>
      </p:grpSpPr>
      <p:grpSp>
        <p:nvGrpSpPr>
          <p:cNvPr id="2" name="Group 2"/>
          <p:cNvGrpSpPr/>
          <p:nvPr/>
        </p:nvGrpSpPr>
        <p:grpSpPr>
          <a:xfrm>
            <a:off x="1028700" y="8535147"/>
            <a:ext cx="16230600" cy="723153"/>
            <a:chOff x="0" y="0"/>
            <a:chExt cx="4274726" cy="190460"/>
          </a:xfrm>
        </p:grpSpPr>
        <p:sp>
          <p:nvSpPr>
            <p:cNvPr id="3" name="Freeform 3"/>
            <p:cNvSpPr/>
            <p:nvPr/>
          </p:nvSpPr>
          <p:spPr>
            <a:xfrm>
              <a:off x="0" y="0"/>
              <a:ext cx="4274726" cy="190460"/>
            </a:xfrm>
            <a:custGeom>
              <a:avLst/>
              <a:gdLst/>
              <a:ahLst/>
              <a:cxnLst/>
              <a:rect l="l" t="t" r="r" b="b"/>
              <a:pathLst>
                <a:path w="4274726" h="190460">
                  <a:moveTo>
                    <a:pt x="0" y="0"/>
                  </a:moveTo>
                  <a:lnTo>
                    <a:pt x="4274726" y="0"/>
                  </a:lnTo>
                  <a:lnTo>
                    <a:pt x="4274726" y="190460"/>
                  </a:lnTo>
                  <a:lnTo>
                    <a:pt x="0" y="190460"/>
                  </a:lnTo>
                  <a:close/>
                </a:path>
              </a:pathLst>
            </a:custGeom>
            <a:solidFill>
              <a:srgbClr val="000000">
                <a:alpha val="0"/>
              </a:srgbClr>
            </a:solidFill>
            <a:ln w="19050" cap="sq">
              <a:solidFill>
                <a:srgbClr val="000000"/>
              </a:solidFill>
              <a:prstDash val="solid"/>
              <a:miter/>
            </a:ln>
          </p:spPr>
        </p:sp>
        <p:sp>
          <p:nvSpPr>
            <p:cNvPr id="4" name="TextBox 4"/>
            <p:cNvSpPr txBox="1"/>
            <p:nvPr/>
          </p:nvSpPr>
          <p:spPr>
            <a:xfrm>
              <a:off x="0" y="-38100"/>
              <a:ext cx="4274726" cy="228560"/>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0" y="804103"/>
            <a:ext cx="7507489" cy="657359"/>
          </a:xfrm>
          <a:prstGeom prst="rect">
            <a:avLst/>
          </a:prstGeom>
        </p:spPr>
        <p:txBody>
          <a:bodyPr lIns="0" tIns="0" rIns="0" bIns="0" rtlCol="0" anchor="t">
            <a:spAutoFit/>
          </a:bodyPr>
          <a:lstStyle/>
          <a:p>
            <a:pPr algn="ctr">
              <a:lnSpc>
                <a:spcPts val="5600"/>
              </a:lnSpc>
              <a:spcBef>
                <a:spcPct val="0"/>
              </a:spcBef>
            </a:pPr>
            <a:r>
              <a:rPr lang="fr-FR" sz="4000" b="1" i="1" dirty="0">
                <a:solidFill>
                  <a:schemeClr val="tx2">
                    <a:lumMod val="75000"/>
                  </a:schemeClr>
                </a:solidFill>
                <a:latin typeface="Georgia" panose="02040502050405020303" pitchFamily="18" charset="0"/>
              </a:rPr>
              <a:t>KPI ET DASHBOARD:</a:t>
            </a:r>
            <a:endParaRPr lang="en-US" sz="4000" b="1" i="1" spc="480" dirty="0">
              <a:solidFill>
                <a:schemeClr val="tx2">
                  <a:lumMod val="75000"/>
                </a:schemeClr>
              </a:solidFill>
              <a:latin typeface="Georgia" panose="02040502050405020303" pitchFamily="18" charset="0"/>
              <a:ea typeface="Lustria"/>
              <a:cs typeface="Lustria"/>
              <a:sym typeface="Lustria"/>
            </a:endParaRPr>
          </a:p>
        </p:txBody>
      </p:sp>
      <p:sp>
        <p:nvSpPr>
          <p:cNvPr id="8" name="TextBox 8"/>
          <p:cNvSpPr txBox="1"/>
          <p:nvPr/>
        </p:nvSpPr>
        <p:spPr>
          <a:xfrm>
            <a:off x="1702419" y="8724335"/>
            <a:ext cx="3988030" cy="306678"/>
          </a:xfrm>
          <a:prstGeom prst="rect">
            <a:avLst/>
          </a:prstGeom>
        </p:spPr>
        <p:txBody>
          <a:bodyPr lIns="0" tIns="0" rIns="0" bIns="0" rtlCol="0" anchor="t">
            <a:spAutoFit/>
          </a:bodyPr>
          <a:lstStyle/>
          <a:p>
            <a:pPr algn="l">
              <a:lnSpc>
                <a:spcPts val="2520"/>
              </a:lnSpc>
              <a:spcBef>
                <a:spcPct val="0"/>
              </a:spcBef>
            </a:pPr>
            <a:r>
              <a:rPr lang="en-US" sz="1800" spc="118">
                <a:solidFill>
                  <a:srgbClr val="000000"/>
                </a:solidFill>
                <a:latin typeface="Lustria"/>
                <a:ea typeface="Lustria"/>
                <a:cs typeface="Lustria"/>
                <a:sym typeface="Lustria"/>
              </a:rPr>
              <a:t>PAGE 7</a:t>
            </a:r>
          </a:p>
        </p:txBody>
      </p:sp>
      <p:sp>
        <p:nvSpPr>
          <p:cNvPr id="10" name="ZoneTexte 9">
            <a:extLst>
              <a:ext uri="{FF2B5EF4-FFF2-40B4-BE49-F238E27FC236}">
                <a16:creationId xmlns:a16="http://schemas.microsoft.com/office/drawing/2014/main" id="{6A1F0A72-D883-18CA-7456-254F5859B551}"/>
              </a:ext>
            </a:extLst>
          </p:cNvPr>
          <p:cNvSpPr txBox="1"/>
          <p:nvPr/>
        </p:nvSpPr>
        <p:spPr>
          <a:xfrm>
            <a:off x="1371600" y="2095500"/>
            <a:ext cx="14782800" cy="5293757"/>
          </a:xfrm>
          <a:prstGeom prst="rect">
            <a:avLst/>
          </a:prstGeom>
          <a:noFill/>
        </p:spPr>
        <p:txBody>
          <a:bodyPr wrap="square" rtlCol="0">
            <a:spAutoFit/>
          </a:bodyPr>
          <a:lstStyle/>
          <a:p>
            <a:r>
              <a:rPr lang="fr-FR" sz="3200" b="1" i="1" dirty="0">
                <a:effectLst>
                  <a:outerShdw blurRad="38100" dist="38100" dir="2700000" algn="tl">
                    <a:srgbClr val="000000">
                      <a:alpha val="43137"/>
                    </a:srgbClr>
                  </a:outerShdw>
                </a:effectLst>
                <a:latin typeface="Georgia" panose="02040502050405020303" pitchFamily="18" charset="0"/>
              </a:rPr>
              <a:t>Le Dashboard Affiche Des KPI :</a:t>
            </a:r>
          </a:p>
          <a:p>
            <a:pPr marL="457200" indent="-457200">
              <a:buFont typeface="Arial" panose="020B0604020202020204" pitchFamily="34" charset="0"/>
              <a:buChar char="•"/>
            </a:pPr>
            <a:r>
              <a:rPr lang="fr-FR" sz="3200" dirty="0">
                <a:latin typeface="Georgia" panose="02040502050405020303" pitchFamily="18" charset="0"/>
              </a:rPr>
              <a:t>Total des produits</a:t>
            </a:r>
          </a:p>
          <a:p>
            <a:pPr marL="457200" indent="-457200">
              <a:buFont typeface="Arial" panose="020B0604020202020204" pitchFamily="34" charset="0"/>
              <a:buChar char="•"/>
            </a:pPr>
            <a:r>
              <a:rPr lang="fr-FR" sz="3200" dirty="0">
                <a:latin typeface="Georgia" panose="02040502050405020303" pitchFamily="18" charset="0"/>
              </a:rPr>
              <a:t>Prix minimum, moyen et maximum.</a:t>
            </a:r>
          </a:p>
          <a:p>
            <a:pPr marL="457200" indent="-457200">
              <a:buFont typeface="Arial" panose="020B0604020202020204" pitchFamily="34" charset="0"/>
              <a:buChar char="•"/>
            </a:pPr>
            <a:r>
              <a:rPr lang="fr-FR" sz="3200" dirty="0">
                <a:latin typeface="Georgia" panose="02040502050405020303" pitchFamily="18" charset="0"/>
              </a:rPr>
              <a:t>Des graphiques (Chart.js) permettent .</a:t>
            </a:r>
          </a:p>
          <a:p>
            <a:pPr marL="457200" indent="-457200">
              <a:buFont typeface="Arial" panose="020B0604020202020204" pitchFamily="34" charset="0"/>
              <a:buChar char="•"/>
            </a:pPr>
            <a:r>
              <a:rPr lang="fr-FR" sz="3200" dirty="0">
                <a:latin typeface="Georgia" panose="02040502050405020303" pitchFamily="18" charset="0"/>
              </a:rPr>
              <a:t>De visualiser l’aperçu général des KPI.</a:t>
            </a:r>
          </a:p>
          <a:p>
            <a:pPr marL="457200" indent="-457200">
              <a:buFont typeface="Arial" panose="020B0604020202020204" pitchFamily="34" charset="0"/>
              <a:buChar char="•"/>
            </a:pPr>
            <a:r>
              <a:rPr lang="fr-FR" sz="3200" dirty="0">
                <a:latin typeface="Georgia" panose="02040502050405020303" pitchFamily="18" charset="0"/>
              </a:rPr>
              <a:t>De suivre les visiteurs et les prix simulés.</a:t>
            </a:r>
          </a:p>
          <a:p>
            <a:endParaRPr lang="fr-FR" sz="3200" dirty="0">
              <a:latin typeface="Georgia" panose="02040502050405020303" pitchFamily="18" charset="0"/>
            </a:endParaRPr>
          </a:p>
          <a:p>
            <a:r>
              <a:rPr lang="fr-FR" sz="3200" b="1" dirty="0">
                <a:latin typeface="Georgia" panose="02040502050405020303" pitchFamily="18" charset="0"/>
              </a:rPr>
              <a:t>Avantages :</a:t>
            </a:r>
            <a:endParaRPr lang="fr-FR" sz="3200" dirty="0">
              <a:latin typeface="Georgia" panose="02040502050405020303" pitchFamily="18" charset="0"/>
            </a:endParaRPr>
          </a:p>
          <a:p>
            <a:pPr marL="457200" indent="-457200">
              <a:buFont typeface="Arial" panose="020B0604020202020204" pitchFamily="34" charset="0"/>
              <a:buChar char="•"/>
            </a:pPr>
            <a:r>
              <a:rPr lang="fr-FR" sz="3200" dirty="0">
                <a:latin typeface="Georgia" panose="02040502050405020303" pitchFamily="18" charset="0"/>
              </a:rPr>
              <a:t>Vision rapide des informations clés.</a:t>
            </a:r>
          </a:p>
          <a:p>
            <a:pPr marL="457200" indent="-457200">
              <a:buFont typeface="Arial" panose="020B0604020202020204" pitchFamily="34" charset="0"/>
              <a:buChar char="•"/>
            </a:pPr>
            <a:r>
              <a:rPr lang="fr-FR" sz="3200" dirty="0">
                <a:latin typeface="Georgia" panose="02040502050405020303" pitchFamily="18" charset="0"/>
              </a:rPr>
              <a:t>Interface claire et moderne.</a:t>
            </a:r>
          </a:p>
          <a:p>
            <a:endParaRPr lang="fr-F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9F5"/>
        </a:solidFill>
        <a:effectLst/>
      </p:bgPr>
    </p:bg>
    <p:spTree>
      <p:nvGrpSpPr>
        <p:cNvPr id="1" name=""/>
        <p:cNvGrpSpPr/>
        <p:nvPr/>
      </p:nvGrpSpPr>
      <p:grpSpPr>
        <a:xfrm>
          <a:off x="0" y="0"/>
          <a:ext cx="0" cy="0"/>
          <a:chOff x="0" y="0"/>
          <a:chExt cx="0" cy="0"/>
        </a:xfrm>
      </p:grpSpPr>
      <p:sp>
        <p:nvSpPr>
          <p:cNvPr id="7" name="TextBox 7"/>
          <p:cNvSpPr txBox="1"/>
          <p:nvPr/>
        </p:nvSpPr>
        <p:spPr>
          <a:xfrm>
            <a:off x="-990600" y="114300"/>
            <a:ext cx="9380591" cy="1256113"/>
          </a:xfrm>
          <a:prstGeom prst="rect">
            <a:avLst/>
          </a:prstGeom>
        </p:spPr>
        <p:txBody>
          <a:bodyPr wrap="square" lIns="0" tIns="0" rIns="0" bIns="0" rtlCol="0" anchor="t">
            <a:spAutoFit/>
          </a:bodyPr>
          <a:lstStyle/>
          <a:p>
            <a:pPr algn="ctr">
              <a:lnSpc>
                <a:spcPts val="11340"/>
              </a:lnSpc>
              <a:spcBef>
                <a:spcPct val="0"/>
              </a:spcBef>
            </a:pPr>
            <a:r>
              <a:rPr lang="fr-FR" sz="4400" b="1" i="1" dirty="0">
                <a:solidFill>
                  <a:schemeClr val="tx2">
                    <a:lumMod val="75000"/>
                  </a:schemeClr>
                </a:solidFill>
                <a:effectLst>
                  <a:outerShdw blurRad="38100" dist="38100" dir="2700000" algn="tl">
                    <a:srgbClr val="000000">
                      <a:alpha val="43137"/>
                    </a:srgbClr>
                  </a:outerShdw>
                </a:effectLst>
                <a:latin typeface="Georgia" panose="02040502050405020303" pitchFamily="18" charset="0"/>
              </a:rPr>
              <a:t>INTÉGRATION API:</a:t>
            </a:r>
            <a:endParaRPr lang="en-US" sz="4400" b="1" i="1" dirty="0">
              <a:solidFill>
                <a:schemeClr val="tx2">
                  <a:lumMod val="75000"/>
                </a:schemeClr>
              </a:solidFill>
              <a:effectLst>
                <a:outerShdw blurRad="38100" dist="38100" dir="2700000" algn="tl">
                  <a:srgbClr val="000000">
                    <a:alpha val="43137"/>
                  </a:srgbClr>
                </a:outerShdw>
              </a:effectLst>
              <a:latin typeface="Georgia" panose="02040502050405020303" pitchFamily="18" charset="0"/>
              <a:ea typeface="Moontime"/>
              <a:cs typeface="Moontime"/>
              <a:sym typeface="Moontime"/>
            </a:endParaRPr>
          </a:p>
        </p:txBody>
      </p:sp>
      <p:sp>
        <p:nvSpPr>
          <p:cNvPr id="9" name="ZoneTexte 8">
            <a:extLst>
              <a:ext uri="{FF2B5EF4-FFF2-40B4-BE49-F238E27FC236}">
                <a16:creationId xmlns:a16="http://schemas.microsoft.com/office/drawing/2014/main" id="{318DBBD1-538E-4A5E-79C2-AB3A9BCF0866}"/>
              </a:ext>
            </a:extLst>
          </p:cNvPr>
          <p:cNvSpPr txBox="1"/>
          <p:nvPr/>
        </p:nvSpPr>
        <p:spPr>
          <a:xfrm>
            <a:off x="1295400" y="3086100"/>
            <a:ext cx="14554200" cy="4801314"/>
          </a:xfrm>
          <a:prstGeom prst="rect">
            <a:avLst/>
          </a:prstGeom>
          <a:noFill/>
        </p:spPr>
        <p:txBody>
          <a:bodyPr wrap="square" rtlCol="0">
            <a:spAutoFit/>
          </a:bodyPr>
          <a:lstStyle/>
          <a:p>
            <a:r>
              <a:rPr lang="fr-FR" sz="3200" dirty="0">
                <a:latin typeface="Georgia" panose="02040502050405020303" pitchFamily="18" charset="0"/>
              </a:rPr>
              <a:t>L’application utilise l’</a:t>
            </a:r>
            <a:r>
              <a:rPr lang="fr-FR" sz="3200" b="1" dirty="0">
                <a:latin typeface="Georgia" panose="02040502050405020303" pitchFamily="18" charset="0"/>
              </a:rPr>
              <a:t>API</a:t>
            </a:r>
            <a:r>
              <a:rPr lang="fr-FR" sz="3200" dirty="0">
                <a:latin typeface="Georgia" panose="02040502050405020303" pitchFamily="18" charset="0"/>
              </a:rPr>
              <a:t> publique </a:t>
            </a:r>
            <a:r>
              <a:rPr lang="fr-FR" sz="3200" b="1" dirty="0" err="1">
                <a:latin typeface="Georgia" panose="02040502050405020303" pitchFamily="18" charset="0"/>
                <a:hlinkClick r:id="rId2">
                  <a:extLst>
                    <a:ext uri="{A12FA001-AC4F-418D-AE19-62706E023703}">
                      <ahyp:hlinkClr xmlns:ahyp="http://schemas.microsoft.com/office/drawing/2018/hyperlinkcolor" val="tx"/>
                    </a:ext>
                  </a:extLst>
                </a:hlinkClick>
              </a:rPr>
              <a:t>FakeStoreAPI</a:t>
            </a:r>
            <a:r>
              <a:rPr lang="fr-FR" sz="3200" dirty="0">
                <a:latin typeface="Georgia" panose="02040502050405020303" pitchFamily="18" charset="0"/>
              </a:rPr>
              <a:t> pour récupérer les produits en </a:t>
            </a:r>
            <a:r>
              <a:rPr lang="fr-FR" sz="3200" b="1" dirty="0">
                <a:latin typeface="Georgia" panose="02040502050405020303" pitchFamily="18" charset="0"/>
              </a:rPr>
              <a:t>JSON</a:t>
            </a:r>
            <a:r>
              <a:rPr lang="fr-FR" sz="3200" dirty="0">
                <a:latin typeface="Georgia" panose="02040502050405020303" pitchFamily="18" charset="0"/>
              </a:rPr>
              <a:t>.</a:t>
            </a:r>
          </a:p>
          <a:p>
            <a:pPr marL="457200" indent="-457200">
              <a:buFont typeface="Arial" panose="020B0604020202020204" pitchFamily="34" charset="0"/>
              <a:buChar char="•"/>
            </a:pPr>
            <a:r>
              <a:rPr lang="fr-FR" sz="3200" dirty="0">
                <a:latin typeface="Georgia" panose="02040502050405020303" pitchFamily="18" charset="0"/>
              </a:rPr>
              <a:t>Les produits sont affichés automatiquement dans le tableau.</a:t>
            </a:r>
          </a:p>
          <a:p>
            <a:pPr marL="457200" indent="-457200">
              <a:buFont typeface="Arial" panose="020B0604020202020204" pitchFamily="34" charset="0"/>
              <a:buChar char="•"/>
            </a:pPr>
            <a:r>
              <a:rPr lang="fr-FR" sz="3200" dirty="0">
                <a:latin typeface="Georgia" panose="02040502050405020303" pitchFamily="18" charset="0"/>
              </a:rPr>
              <a:t>Les </a:t>
            </a:r>
            <a:r>
              <a:rPr lang="fr-FR" sz="3200" b="1" dirty="0">
                <a:latin typeface="Georgia" panose="02040502050405020303" pitchFamily="18" charset="0"/>
              </a:rPr>
              <a:t>KPI</a:t>
            </a:r>
            <a:r>
              <a:rPr lang="fr-FR" sz="3200" dirty="0">
                <a:latin typeface="Georgia" panose="02040502050405020303" pitchFamily="18" charset="0"/>
              </a:rPr>
              <a:t> sont mis à jour à partir des données </a:t>
            </a:r>
            <a:r>
              <a:rPr lang="fr-FR" sz="3200" b="1" dirty="0">
                <a:latin typeface="Georgia" panose="02040502050405020303" pitchFamily="18" charset="0"/>
              </a:rPr>
              <a:t>API.</a:t>
            </a:r>
          </a:p>
          <a:p>
            <a:endParaRPr lang="fr-FR" sz="3200" b="1" dirty="0">
              <a:latin typeface="Georgia" panose="02040502050405020303" pitchFamily="18" charset="0"/>
            </a:endParaRPr>
          </a:p>
          <a:p>
            <a:r>
              <a:rPr lang="fr-FR" sz="3200" b="1" i="1" dirty="0">
                <a:effectLst>
                  <a:outerShdw blurRad="38100" dist="38100" dir="2700000" algn="tl">
                    <a:srgbClr val="000000">
                      <a:alpha val="43137"/>
                    </a:srgbClr>
                  </a:outerShdw>
                </a:effectLst>
                <a:latin typeface="Georgia" panose="02040502050405020303" pitchFamily="18" charset="0"/>
              </a:rPr>
              <a:t>Techniques Utilisées :</a:t>
            </a:r>
          </a:p>
          <a:p>
            <a:pPr marL="457200" indent="-457200">
              <a:buFont typeface="Arial" panose="020B0604020202020204" pitchFamily="34" charset="0"/>
              <a:buChar char="•"/>
            </a:pPr>
            <a:r>
              <a:rPr lang="fr-FR" sz="3200" dirty="0" err="1">
                <a:latin typeface="Georgia" panose="02040502050405020303" pitchFamily="18" charset="0"/>
              </a:rPr>
              <a:t>fetch</a:t>
            </a:r>
            <a:r>
              <a:rPr lang="fr-FR" sz="3200" dirty="0">
                <a:latin typeface="Georgia" panose="02040502050405020303" pitchFamily="18" charset="0"/>
              </a:rPr>
              <a:t>() pour récupérer les données.</a:t>
            </a:r>
          </a:p>
          <a:p>
            <a:pPr marL="457200" indent="-457200">
              <a:buFont typeface="Arial" panose="020B0604020202020204" pitchFamily="34" charset="0"/>
              <a:buChar char="•"/>
            </a:pPr>
            <a:r>
              <a:rPr lang="fr-FR" sz="3200" dirty="0">
                <a:latin typeface="Georgia" panose="02040502050405020303" pitchFamily="18" charset="0"/>
              </a:rPr>
              <a:t>.</a:t>
            </a:r>
            <a:r>
              <a:rPr lang="fr-FR" sz="3200" dirty="0" err="1">
                <a:latin typeface="Georgia" panose="02040502050405020303" pitchFamily="18" charset="0"/>
              </a:rPr>
              <a:t>then</a:t>
            </a:r>
            <a:r>
              <a:rPr lang="fr-FR" sz="3200" dirty="0">
                <a:latin typeface="Georgia" panose="02040502050405020303" pitchFamily="18" charset="0"/>
              </a:rPr>
              <a:t>() pour traiter la réponse.</a:t>
            </a:r>
          </a:p>
          <a:p>
            <a:pPr marL="457200" indent="-457200">
              <a:buFont typeface="Arial" panose="020B0604020202020204" pitchFamily="34" charset="0"/>
              <a:buChar char="•"/>
            </a:pPr>
            <a:r>
              <a:rPr lang="fr-FR" sz="3200" dirty="0">
                <a:latin typeface="Georgia" panose="02040502050405020303" pitchFamily="18" charset="0"/>
              </a:rPr>
              <a:t>.catch() pour gérer les erreurs.</a:t>
            </a:r>
          </a:p>
          <a:p>
            <a:endParaRPr lang="fr-F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9F5"/>
        </a:solidFill>
        <a:effectLst/>
      </p:bgPr>
    </p:bg>
    <p:spTree>
      <p:nvGrpSpPr>
        <p:cNvPr id="1" name=""/>
        <p:cNvGrpSpPr/>
        <p:nvPr/>
      </p:nvGrpSpPr>
      <p:grpSpPr>
        <a:xfrm>
          <a:off x="0" y="0"/>
          <a:ext cx="0" cy="0"/>
          <a:chOff x="0" y="0"/>
          <a:chExt cx="0" cy="0"/>
        </a:xfrm>
      </p:grpSpPr>
      <p:grpSp>
        <p:nvGrpSpPr>
          <p:cNvPr id="2" name="Group 2"/>
          <p:cNvGrpSpPr/>
          <p:nvPr/>
        </p:nvGrpSpPr>
        <p:grpSpPr>
          <a:xfrm>
            <a:off x="1028700" y="8535147"/>
            <a:ext cx="16230600" cy="723153"/>
            <a:chOff x="0" y="0"/>
            <a:chExt cx="4274726" cy="190460"/>
          </a:xfrm>
        </p:grpSpPr>
        <p:sp>
          <p:nvSpPr>
            <p:cNvPr id="3" name="Freeform 3"/>
            <p:cNvSpPr/>
            <p:nvPr/>
          </p:nvSpPr>
          <p:spPr>
            <a:xfrm>
              <a:off x="0" y="0"/>
              <a:ext cx="4274726" cy="190460"/>
            </a:xfrm>
            <a:custGeom>
              <a:avLst/>
              <a:gdLst/>
              <a:ahLst/>
              <a:cxnLst/>
              <a:rect l="l" t="t" r="r" b="b"/>
              <a:pathLst>
                <a:path w="4274726" h="190460">
                  <a:moveTo>
                    <a:pt x="0" y="0"/>
                  </a:moveTo>
                  <a:lnTo>
                    <a:pt x="4274726" y="0"/>
                  </a:lnTo>
                  <a:lnTo>
                    <a:pt x="4274726" y="190460"/>
                  </a:lnTo>
                  <a:lnTo>
                    <a:pt x="0" y="190460"/>
                  </a:lnTo>
                  <a:close/>
                </a:path>
              </a:pathLst>
            </a:custGeom>
            <a:solidFill>
              <a:srgbClr val="000000">
                <a:alpha val="0"/>
              </a:srgbClr>
            </a:solidFill>
            <a:ln w="19050" cap="sq">
              <a:solidFill>
                <a:srgbClr val="000000"/>
              </a:solidFill>
              <a:prstDash val="solid"/>
              <a:miter/>
            </a:ln>
          </p:spPr>
        </p:sp>
        <p:sp>
          <p:nvSpPr>
            <p:cNvPr id="4" name="TextBox 4"/>
            <p:cNvSpPr txBox="1"/>
            <p:nvPr/>
          </p:nvSpPr>
          <p:spPr>
            <a:xfrm>
              <a:off x="0" y="-38100"/>
              <a:ext cx="4274726" cy="228560"/>
            </a:xfrm>
            <a:prstGeom prst="rect">
              <a:avLst/>
            </a:prstGeom>
          </p:spPr>
          <p:txBody>
            <a:bodyPr lIns="50800" tIns="50800" rIns="50800" bIns="50800" rtlCol="0" anchor="ctr"/>
            <a:lstStyle/>
            <a:p>
              <a:pPr algn="ctr">
                <a:lnSpc>
                  <a:spcPts val="2659"/>
                </a:lnSpc>
                <a:spcBef>
                  <a:spcPct val="0"/>
                </a:spcBef>
              </a:pPr>
              <a:endParaRPr/>
            </a:p>
          </p:txBody>
        </p:sp>
      </p:grpSp>
      <p:sp>
        <p:nvSpPr>
          <p:cNvPr id="15" name="TextBox 15"/>
          <p:cNvSpPr txBox="1"/>
          <p:nvPr/>
        </p:nvSpPr>
        <p:spPr>
          <a:xfrm>
            <a:off x="1359106" y="3135591"/>
            <a:ext cx="14947694" cy="2769989"/>
          </a:xfrm>
          <a:prstGeom prst="rect">
            <a:avLst/>
          </a:prstGeom>
        </p:spPr>
        <p:txBody>
          <a:bodyPr wrap="square" lIns="0" tIns="0" rIns="0" bIns="0" rtlCol="0" anchor="t">
            <a:spAutoFit/>
          </a:bodyPr>
          <a:lstStyle/>
          <a:p>
            <a:pPr lvl="0" eaLnBrk="0" fontAlgn="base" hangingPunct="0">
              <a:spcBef>
                <a:spcPct val="0"/>
              </a:spcBef>
              <a:spcAft>
                <a:spcPct val="0"/>
              </a:spcAft>
              <a:buFontTx/>
              <a:buChar char="•"/>
            </a:pPr>
            <a:r>
              <a:rPr lang="fr-FR" altLang="fr-FR" sz="3600" dirty="0">
                <a:latin typeface="Georgia" panose="02040502050405020303" pitchFamily="18" charset="0"/>
              </a:rPr>
              <a:t>Formulaire pour </a:t>
            </a:r>
            <a:r>
              <a:rPr lang="fr-FR" altLang="fr-FR" sz="3600" b="1" dirty="0">
                <a:latin typeface="Georgia" panose="02040502050405020303" pitchFamily="18" charset="0"/>
              </a:rPr>
              <a:t>ajouter</a:t>
            </a:r>
            <a:r>
              <a:rPr lang="fr-FR" altLang="fr-FR" sz="3600" dirty="0">
                <a:latin typeface="Georgia" panose="02040502050405020303" pitchFamily="18" charset="0"/>
              </a:rPr>
              <a:t> ou </a:t>
            </a:r>
            <a:r>
              <a:rPr lang="fr-FR" altLang="fr-FR" sz="3600" b="1" dirty="0">
                <a:latin typeface="Georgia" panose="02040502050405020303" pitchFamily="18" charset="0"/>
              </a:rPr>
              <a:t>modifier</a:t>
            </a:r>
            <a:r>
              <a:rPr lang="fr-FR" altLang="fr-FR" sz="3600" dirty="0">
                <a:latin typeface="Georgia" panose="02040502050405020303" pitchFamily="18" charset="0"/>
              </a:rPr>
              <a:t> un produit.</a:t>
            </a:r>
          </a:p>
          <a:p>
            <a:pPr lvl="0" eaLnBrk="0" fontAlgn="base" hangingPunct="0">
              <a:spcBef>
                <a:spcPct val="0"/>
              </a:spcBef>
              <a:spcAft>
                <a:spcPct val="0"/>
              </a:spcAft>
              <a:buFontTx/>
              <a:buChar char="•"/>
            </a:pPr>
            <a:r>
              <a:rPr lang="fr-FR" altLang="fr-FR" sz="3600" dirty="0">
                <a:latin typeface="Georgia" panose="02040502050405020303" pitchFamily="18" charset="0"/>
              </a:rPr>
              <a:t>Barre de recherche pour filtrer les produits par nom.</a:t>
            </a:r>
          </a:p>
          <a:p>
            <a:pPr lvl="0" eaLnBrk="0" fontAlgn="base" hangingPunct="0">
              <a:spcBef>
                <a:spcPct val="0"/>
              </a:spcBef>
              <a:spcAft>
                <a:spcPct val="0"/>
              </a:spcAft>
              <a:buFontTx/>
              <a:buChar char="•"/>
            </a:pPr>
            <a:r>
              <a:rPr lang="fr-FR" altLang="fr-FR" sz="3600" dirty="0">
                <a:latin typeface="Georgia" panose="02040502050405020303" pitchFamily="18" charset="0"/>
              </a:rPr>
              <a:t>La recherche peut être </a:t>
            </a:r>
            <a:r>
              <a:rPr lang="fr-FR" altLang="fr-FR" sz="3600" b="1" dirty="0">
                <a:latin typeface="Georgia" panose="02040502050405020303" pitchFamily="18" charset="0"/>
              </a:rPr>
              <a:t>automatique en temps réel</a:t>
            </a:r>
            <a:r>
              <a:rPr lang="fr-FR" altLang="fr-FR" sz="3600" dirty="0">
                <a:latin typeface="Georgia" panose="02040502050405020303" pitchFamily="18" charset="0"/>
              </a:rPr>
              <a:t> ou déclenchée par un bouton.</a:t>
            </a:r>
          </a:p>
          <a:p>
            <a:pPr lvl="0" eaLnBrk="0" fontAlgn="base" hangingPunct="0">
              <a:spcBef>
                <a:spcPct val="0"/>
              </a:spcBef>
              <a:spcAft>
                <a:spcPct val="0"/>
              </a:spcAft>
              <a:buFontTx/>
              <a:buChar char="•"/>
            </a:pPr>
            <a:r>
              <a:rPr lang="fr-FR" altLang="fr-FR" sz="3600" dirty="0">
                <a:latin typeface="Georgia" panose="02040502050405020303" pitchFamily="18" charset="0"/>
              </a:rPr>
              <a:t>Utilisation du </a:t>
            </a:r>
            <a:r>
              <a:rPr lang="fr-FR" altLang="fr-FR" sz="3600" b="1" dirty="0">
                <a:latin typeface="Georgia" panose="02040502050405020303" pitchFamily="18" charset="0"/>
              </a:rPr>
              <a:t>DOM</a:t>
            </a:r>
            <a:r>
              <a:rPr lang="fr-FR" altLang="fr-FR" sz="3600" dirty="0">
                <a:latin typeface="Georgia" panose="02040502050405020303" pitchFamily="18" charset="0"/>
              </a:rPr>
              <a:t> pour mettre à jour le tableau sans recharger la page.</a:t>
            </a:r>
          </a:p>
        </p:txBody>
      </p:sp>
      <p:sp>
        <p:nvSpPr>
          <p:cNvPr id="18" name="TextBox 18"/>
          <p:cNvSpPr txBox="1"/>
          <p:nvPr/>
        </p:nvSpPr>
        <p:spPr>
          <a:xfrm>
            <a:off x="228600" y="825278"/>
            <a:ext cx="10972800" cy="457626"/>
          </a:xfrm>
          <a:prstGeom prst="rect">
            <a:avLst/>
          </a:prstGeom>
        </p:spPr>
        <p:txBody>
          <a:bodyPr wrap="square" lIns="0" tIns="0" rIns="0" bIns="0" rtlCol="0" anchor="t">
            <a:spAutoFit/>
          </a:bodyPr>
          <a:lstStyle/>
          <a:p>
            <a:pPr algn="ctr">
              <a:lnSpc>
                <a:spcPts val="3359"/>
              </a:lnSpc>
              <a:spcBef>
                <a:spcPct val="0"/>
              </a:spcBef>
            </a:pPr>
            <a:r>
              <a:rPr lang="fr-FR" sz="4400" b="1" i="1" dirty="0">
                <a:solidFill>
                  <a:schemeClr val="tx2">
                    <a:lumMod val="75000"/>
                  </a:schemeClr>
                </a:solidFill>
                <a:latin typeface="Georgia" panose="02040502050405020303" pitchFamily="18" charset="0"/>
              </a:rPr>
              <a:t>FORMULAIRE ET RECHERCHE:</a:t>
            </a:r>
            <a:endParaRPr lang="en-US" sz="4400" b="1" i="1" dirty="0">
              <a:solidFill>
                <a:schemeClr val="tx2">
                  <a:lumMod val="75000"/>
                </a:schemeClr>
              </a:solidFill>
              <a:latin typeface="Georgia" panose="02040502050405020303" pitchFamily="18" charset="0"/>
              <a:ea typeface="Inria Serif Bold"/>
              <a:cs typeface="Inria Serif Bold"/>
              <a:sym typeface="Inria Serif Bold"/>
            </a:endParaRPr>
          </a:p>
        </p:txBody>
      </p:sp>
      <p:sp>
        <p:nvSpPr>
          <p:cNvPr id="19" name="TextBox 19"/>
          <p:cNvSpPr txBox="1"/>
          <p:nvPr/>
        </p:nvSpPr>
        <p:spPr>
          <a:xfrm>
            <a:off x="1702419" y="8724335"/>
            <a:ext cx="3988030" cy="306678"/>
          </a:xfrm>
          <a:prstGeom prst="rect">
            <a:avLst/>
          </a:prstGeom>
        </p:spPr>
        <p:txBody>
          <a:bodyPr lIns="0" tIns="0" rIns="0" bIns="0" rtlCol="0" anchor="t">
            <a:spAutoFit/>
          </a:bodyPr>
          <a:lstStyle/>
          <a:p>
            <a:pPr algn="l">
              <a:lnSpc>
                <a:spcPts val="2520"/>
              </a:lnSpc>
              <a:spcBef>
                <a:spcPct val="0"/>
              </a:spcBef>
            </a:pPr>
            <a:r>
              <a:rPr lang="en-US" sz="1800" spc="118">
                <a:solidFill>
                  <a:srgbClr val="000000"/>
                </a:solidFill>
                <a:latin typeface="Lustria"/>
                <a:ea typeface="Lustria"/>
                <a:cs typeface="Lustria"/>
                <a:sym typeface="Lustria"/>
              </a:rPr>
              <a:t>PAGE 9</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9F5"/>
        </a:solidFill>
        <a:effectLst/>
      </p:bgPr>
    </p:bg>
    <p:spTree>
      <p:nvGrpSpPr>
        <p:cNvPr id="1" name=""/>
        <p:cNvGrpSpPr/>
        <p:nvPr/>
      </p:nvGrpSpPr>
      <p:grpSpPr>
        <a:xfrm>
          <a:off x="0" y="0"/>
          <a:ext cx="0" cy="0"/>
          <a:chOff x="0" y="0"/>
          <a:chExt cx="0" cy="0"/>
        </a:xfrm>
      </p:grpSpPr>
      <p:grpSp>
        <p:nvGrpSpPr>
          <p:cNvPr id="2" name="Group 2"/>
          <p:cNvGrpSpPr/>
          <p:nvPr/>
        </p:nvGrpSpPr>
        <p:grpSpPr>
          <a:xfrm>
            <a:off x="1028700" y="8535147"/>
            <a:ext cx="16230600" cy="723153"/>
            <a:chOff x="0" y="0"/>
            <a:chExt cx="4274726" cy="190460"/>
          </a:xfrm>
        </p:grpSpPr>
        <p:sp>
          <p:nvSpPr>
            <p:cNvPr id="3" name="Freeform 3"/>
            <p:cNvSpPr/>
            <p:nvPr/>
          </p:nvSpPr>
          <p:spPr>
            <a:xfrm>
              <a:off x="0" y="0"/>
              <a:ext cx="4274726" cy="190460"/>
            </a:xfrm>
            <a:custGeom>
              <a:avLst/>
              <a:gdLst/>
              <a:ahLst/>
              <a:cxnLst/>
              <a:rect l="l" t="t" r="r" b="b"/>
              <a:pathLst>
                <a:path w="4274726" h="190460">
                  <a:moveTo>
                    <a:pt x="0" y="0"/>
                  </a:moveTo>
                  <a:lnTo>
                    <a:pt x="4274726" y="0"/>
                  </a:lnTo>
                  <a:lnTo>
                    <a:pt x="4274726" y="190460"/>
                  </a:lnTo>
                  <a:lnTo>
                    <a:pt x="0" y="190460"/>
                  </a:lnTo>
                  <a:close/>
                </a:path>
              </a:pathLst>
            </a:custGeom>
            <a:solidFill>
              <a:srgbClr val="000000">
                <a:alpha val="0"/>
              </a:srgbClr>
            </a:solidFill>
            <a:ln w="19050" cap="sq">
              <a:solidFill>
                <a:srgbClr val="000000"/>
              </a:solidFill>
              <a:prstDash val="solid"/>
              <a:miter/>
            </a:ln>
          </p:spPr>
        </p:sp>
        <p:sp>
          <p:nvSpPr>
            <p:cNvPr id="4" name="TextBox 4"/>
            <p:cNvSpPr txBox="1"/>
            <p:nvPr/>
          </p:nvSpPr>
          <p:spPr>
            <a:xfrm>
              <a:off x="0" y="-38100"/>
              <a:ext cx="4274726" cy="228560"/>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p:cNvSpPr txBox="1"/>
          <p:nvPr/>
        </p:nvSpPr>
        <p:spPr>
          <a:xfrm>
            <a:off x="685800" y="419100"/>
            <a:ext cx="14935200" cy="669222"/>
          </a:xfrm>
          <a:prstGeom prst="rect">
            <a:avLst/>
          </a:prstGeom>
        </p:spPr>
        <p:txBody>
          <a:bodyPr wrap="square" lIns="0" tIns="0" rIns="0" bIns="0" rtlCol="0" anchor="t">
            <a:spAutoFit/>
          </a:bodyPr>
          <a:lstStyle/>
          <a:p>
            <a:pPr>
              <a:lnSpc>
                <a:spcPts val="5599"/>
              </a:lnSpc>
              <a:spcBef>
                <a:spcPct val="0"/>
              </a:spcBef>
            </a:pPr>
            <a:r>
              <a:rPr lang="fr-FR" sz="4400" b="1" i="1" dirty="0">
                <a:solidFill>
                  <a:schemeClr val="tx2">
                    <a:lumMod val="75000"/>
                  </a:schemeClr>
                </a:solidFill>
                <a:latin typeface="Georgia" panose="02040502050405020303" pitchFamily="18" charset="0"/>
              </a:rPr>
              <a:t>FONCTIONNALITÉS SUPPLÉMENTAIRES:</a:t>
            </a:r>
            <a:endParaRPr lang="en-US" sz="4400" b="1" i="1" spc="479" dirty="0">
              <a:solidFill>
                <a:schemeClr val="tx2">
                  <a:lumMod val="75000"/>
                </a:schemeClr>
              </a:solidFill>
              <a:latin typeface="Georgia" panose="02040502050405020303" pitchFamily="18" charset="0"/>
              <a:ea typeface="Lustria"/>
              <a:cs typeface="Lustria"/>
              <a:sym typeface="Lustria"/>
            </a:endParaRPr>
          </a:p>
        </p:txBody>
      </p:sp>
      <p:sp>
        <p:nvSpPr>
          <p:cNvPr id="12" name="TextBox 12"/>
          <p:cNvSpPr txBox="1"/>
          <p:nvPr/>
        </p:nvSpPr>
        <p:spPr>
          <a:xfrm>
            <a:off x="1524000" y="1518228"/>
            <a:ext cx="12877800" cy="2215991"/>
          </a:xfrm>
          <a:prstGeom prst="rect">
            <a:avLst/>
          </a:prstGeom>
        </p:spPr>
        <p:txBody>
          <a:bodyPr wrap="square" lIns="0" tIns="0" rIns="0" bIns="0" rtlCol="0" anchor="t">
            <a:spAutoFit/>
          </a:bodyPr>
          <a:lstStyle/>
          <a:p>
            <a:pPr lvl="0" eaLnBrk="0" fontAlgn="base" hangingPunct="0">
              <a:spcBef>
                <a:spcPct val="0"/>
              </a:spcBef>
              <a:spcAft>
                <a:spcPct val="0"/>
              </a:spcAft>
              <a:buFontTx/>
              <a:buChar char="•"/>
            </a:pPr>
            <a:r>
              <a:rPr lang="fr-FR" altLang="fr-FR" sz="3600" spc="300" dirty="0">
                <a:latin typeface="Georgia" panose="02040502050405020303" pitchFamily="18" charset="0"/>
              </a:rPr>
              <a:t>Bouton FAQ / Aide pour guider l’utilisateur.</a:t>
            </a:r>
          </a:p>
          <a:p>
            <a:pPr lvl="0" eaLnBrk="0" fontAlgn="base" hangingPunct="0">
              <a:spcBef>
                <a:spcPct val="0"/>
              </a:spcBef>
              <a:spcAft>
                <a:spcPct val="0"/>
              </a:spcAft>
              <a:buFontTx/>
              <a:buChar char="•"/>
            </a:pPr>
            <a:r>
              <a:rPr lang="fr-FR" altLang="fr-FR" sz="3600" spc="300" dirty="0">
                <a:latin typeface="Georgia" panose="02040502050405020303" pitchFamily="18" charset="0"/>
              </a:rPr>
              <a:t>Arrière-plan flou lors de l’ouverture de la FAQ.</a:t>
            </a:r>
          </a:p>
          <a:p>
            <a:pPr lvl="0" eaLnBrk="0" fontAlgn="base" hangingPunct="0">
              <a:spcBef>
                <a:spcPct val="0"/>
              </a:spcBef>
              <a:spcAft>
                <a:spcPct val="0"/>
              </a:spcAft>
              <a:buFontTx/>
              <a:buChar char="•"/>
            </a:pPr>
            <a:r>
              <a:rPr lang="fr-FR" altLang="fr-FR" sz="3600" spc="300" dirty="0">
                <a:latin typeface="Georgia" panose="02040502050405020303" pitchFamily="18" charset="0"/>
              </a:rPr>
              <a:t>Boutons stylés pour un design moderne et intuitif.</a:t>
            </a:r>
          </a:p>
          <a:p>
            <a:pPr lvl="0" eaLnBrk="0" fontAlgn="base" hangingPunct="0">
              <a:spcBef>
                <a:spcPct val="0"/>
              </a:spcBef>
              <a:spcAft>
                <a:spcPct val="0"/>
              </a:spcAft>
              <a:buFontTx/>
              <a:buChar char="•"/>
            </a:pPr>
            <a:r>
              <a:rPr lang="fr-FR" altLang="fr-FR" sz="3600" spc="300" dirty="0">
                <a:latin typeface="Georgia" panose="02040502050405020303" pitchFamily="18" charset="0"/>
              </a:rPr>
              <a:t>Interface lisible et responsive.</a:t>
            </a:r>
          </a:p>
        </p:txBody>
      </p:sp>
      <p:sp>
        <p:nvSpPr>
          <p:cNvPr id="13" name="TextBox 13"/>
          <p:cNvSpPr txBox="1"/>
          <p:nvPr/>
        </p:nvSpPr>
        <p:spPr>
          <a:xfrm>
            <a:off x="1702419" y="8724335"/>
            <a:ext cx="3988030" cy="306678"/>
          </a:xfrm>
          <a:prstGeom prst="rect">
            <a:avLst/>
          </a:prstGeom>
        </p:spPr>
        <p:txBody>
          <a:bodyPr lIns="0" tIns="0" rIns="0" bIns="0" rtlCol="0" anchor="t">
            <a:spAutoFit/>
          </a:bodyPr>
          <a:lstStyle/>
          <a:p>
            <a:pPr algn="l">
              <a:lnSpc>
                <a:spcPts val="2520"/>
              </a:lnSpc>
              <a:spcBef>
                <a:spcPct val="0"/>
              </a:spcBef>
            </a:pPr>
            <a:r>
              <a:rPr lang="en-US" sz="1800" spc="118">
                <a:solidFill>
                  <a:srgbClr val="000000"/>
                </a:solidFill>
                <a:latin typeface="Lustria"/>
                <a:ea typeface="Lustria"/>
                <a:cs typeface="Lustria"/>
                <a:sym typeface="Lustria"/>
              </a:rPr>
              <a:t>PAGE 10</a:t>
            </a:r>
          </a:p>
        </p:txBody>
      </p:sp>
      <p:sp>
        <p:nvSpPr>
          <p:cNvPr id="18" name="ZoneTexte 17">
            <a:extLst>
              <a:ext uri="{FF2B5EF4-FFF2-40B4-BE49-F238E27FC236}">
                <a16:creationId xmlns:a16="http://schemas.microsoft.com/office/drawing/2014/main" id="{CD9CC6F3-21C9-440F-C44A-29E51FF21A37}"/>
              </a:ext>
            </a:extLst>
          </p:cNvPr>
          <p:cNvSpPr txBox="1"/>
          <p:nvPr/>
        </p:nvSpPr>
        <p:spPr>
          <a:xfrm>
            <a:off x="716280" y="4434634"/>
            <a:ext cx="11399520" cy="769441"/>
          </a:xfrm>
          <a:prstGeom prst="rect">
            <a:avLst/>
          </a:prstGeom>
          <a:noFill/>
        </p:spPr>
        <p:txBody>
          <a:bodyPr wrap="square">
            <a:spAutoFit/>
          </a:bodyPr>
          <a:lstStyle/>
          <a:p>
            <a:r>
              <a:rPr lang="fr-FR" sz="4400" b="1" i="1" dirty="0">
                <a:solidFill>
                  <a:schemeClr val="tx2">
                    <a:lumMod val="75000"/>
                  </a:schemeClr>
                </a:solidFill>
                <a:latin typeface="Georgia" panose="02040502050405020303" pitchFamily="18" charset="0"/>
              </a:rPr>
              <a:t>DIFFICULTÉS RENCONTRÉES:</a:t>
            </a:r>
          </a:p>
        </p:txBody>
      </p:sp>
      <p:sp>
        <p:nvSpPr>
          <p:cNvPr id="19" name="Rectangle 2">
            <a:extLst>
              <a:ext uri="{FF2B5EF4-FFF2-40B4-BE49-F238E27FC236}">
                <a16:creationId xmlns:a16="http://schemas.microsoft.com/office/drawing/2014/main" id="{1C8BABF2-7448-D917-6F36-26CD978C3D24}"/>
              </a:ext>
            </a:extLst>
          </p:cNvPr>
          <p:cNvSpPr>
            <a:spLocks noChangeArrowheads="1"/>
          </p:cNvSpPr>
          <p:nvPr/>
        </p:nvSpPr>
        <p:spPr bwMode="auto">
          <a:xfrm>
            <a:off x="1524000" y="5619873"/>
            <a:ext cx="15099005"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3600" b="0" i="0" u="none" strike="noStrike" cap="none" spc="300" normalizeH="0" baseline="0" dirty="0">
                <a:ln>
                  <a:noFill/>
                </a:ln>
                <a:solidFill>
                  <a:schemeClr val="tx1"/>
                </a:solidFill>
                <a:effectLst/>
                <a:latin typeface="Georgia" panose="02040502050405020303" pitchFamily="18" charset="0"/>
              </a:rPr>
              <a:t>Comprendre la récupération des données via </a:t>
            </a:r>
            <a:r>
              <a:rPr kumimoji="0" lang="fr-FR" altLang="fr-FR" sz="3600" b="1" i="0" u="none" strike="noStrike" cap="none" spc="300" normalizeH="0" baseline="0" dirty="0">
                <a:ln>
                  <a:noFill/>
                </a:ln>
                <a:solidFill>
                  <a:schemeClr val="tx1"/>
                </a:solidFill>
                <a:effectLst/>
                <a:latin typeface="Georgia" panose="02040502050405020303" pitchFamily="18" charset="0"/>
              </a:rPr>
              <a:t>l’API</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3600" b="0" i="0" u="none" strike="noStrike" cap="none" spc="300" normalizeH="0" baseline="0" dirty="0">
                <a:ln>
                  <a:noFill/>
                </a:ln>
                <a:solidFill>
                  <a:schemeClr val="tx1"/>
                </a:solidFill>
                <a:effectLst/>
                <a:latin typeface="Georgia" panose="02040502050405020303" pitchFamily="18" charset="0"/>
              </a:rPr>
              <a:t>Manipuler le </a:t>
            </a:r>
            <a:r>
              <a:rPr kumimoji="0" lang="fr-FR" altLang="fr-FR" sz="3600" b="1" i="0" u="none" strike="noStrike" cap="none" spc="300" normalizeH="0" baseline="0" dirty="0">
                <a:ln>
                  <a:noFill/>
                </a:ln>
                <a:solidFill>
                  <a:schemeClr val="tx1"/>
                </a:solidFill>
                <a:effectLst/>
                <a:latin typeface="Georgia" panose="02040502050405020303" pitchFamily="18" charset="0"/>
              </a:rPr>
              <a:t>DOM</a:t>
            </a:r>
            <a:r>
              <a:rPr kumimoji="0" lang="fr-FR" altLang="fr-FR" sz="3600" b="0" i="0" u="none" strike="noStrike" cap="none" spc="300" normalizeH="0" baseline="0" dirty="0">
                <a:ln>
                  <a:noFill/>
                </a:ln>
                <a:solidFill>
                  <a:schemeClr val="tx1"/>
                </a:solidFill>
                <a:effectLst/>
                <a:latin typeface="Georgia" panose="02040502050405020303" pitchFamily="18" charset="0"/>
              </a:rPr>
              <a:t> pour afficher dynamiquement les produits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3600" b="0" i="0" u="none" strike="noStrike" cap="none" spc="300" normalizeH="0" baseline="0" dirty="0">
                <a:ln>
                  <a:noFill/>
                </a:ln>
                <a:solidFill>
                  <a:schemeClr val="tx1"/>
                </a:solidFill>
                <a:effectLst/>
                <a:latin typeface="Georgia" panose="02040502050405020303" pitchFamily="18" charset="0"/>
              </a:rPr>
              <a:t>Calculer et afficher des</a:t>
            </a:r>
            <a:r>
              <a:rPr kumimoji="0" lang="fr-FR" altLang="fr-FR" sz="3600" b="1" i="0" u="none" strike="noStrike" cap="none" spc="300" normalizeH="0" baseline="0" dirty="0">
                <a:ln>
                  <a:noFill/>
                </a:ln>
                <a:solidFill>
                  <a:schemeClr val="tx1"/>
                </a:solidFill>
                <a:effectLst/>
                <a:latin typeface="Georgia" panose="02040502050405020303" pitchFamily="18" charset="0"/>
              </a:rPr>
              <a:t> KPI </a:t>
            </a:r>
            <a:r>
              <a:rPr kumimoji="0" lang="fr-FR" altLang="fr-FR" sz="3600" b="0" i="0" u="none" strike="noStrike" cap="none" spc="300" normalizeH="0" baseline="0" dirty="0">
                <a:ln>
                  <a:noFill/>
                </a:ln>
                <a:solidFill>
                  <a:schemeClr val="tx1"/>
                </a:solidFill>
                <a:effectLst/>
                <a:latin typeface="Georgia" panose="02040502050405020303" pitchFamily="18" charset="0"/>
              </a:rPr>
              <a:t>à partir des données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3600" b="0" i="0" u="none" strike="noStrike" cap="none" spc="300" normalizeH="0" baseline="0" dirty="0">
                <a:ln>
                  <a:noFill/>
                </a:ln>
                <a:solidFill>
                  <a:schemeClr val="tx1"/>
                </a:solidFill>
                <a:effectLst/>
                <a:latin typeface="Georgia" panose="02040502050405020303" pitchFamily="18" charset="0"/>
              </a:rPr>
              <a:t>Styliser l’interface de façon simple mais professionnelle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9F5"/>
        </a:solidFill>
        <a:effectLst/>
      </p:bgPr>
    </p:bg>
    <p:spTree>
      <p:nvGrpSpPr>
        <p:cNvPr id="1" name=""/>
        <p:cNvGrpSpPr/>
        <p:nvPr/>
      </p:nvGrpSpPr>
      <p:grpSpPr>
        <a:xfrm>
          <a:off x="0" y="0"/>
          <a:ext cx="0" cy="0"/>
          <a:chOff x="0" y="0"/>
          <a:chExt cx="0" cy="0"/>
        </a:xfrm>
      </p:grpSpPr>
      <p:grpSp>
        <p:nvGrpSpPr>
          <p:cNvPr id="2" name="Group 2"/>
          <p:cNvGrpSpPr/>
          <p:nvPr/>
        </p:nvGrpSpPr>
        <p:grpSpPr>
          <a:xfrm>
            <a:off x="993303" y="1255987"/>
            <a:ext cx="16230600" cy="8229600"/>
            <a:chOff x="0" y="0"/>
            <a:chExt cx="4274726" cy="2167467"/>
          </a:xfrm>
        </p:grpSpPr>
        <p:sp>
          <p:nvSpPr>
            <p:cNvPr id="3" name="Freeform 3"/>
            <p:cNvSpPr/>
            <p:nvPr/>
          </p:nvSpPr>
          <p:spPr>
            <a:xfrm>
              <a:off x="0" y="0"/>
              <a:ext cx="4274726" cy="2167467"/>
            </a:xfrm>
            <a:custGeom>
              <a:avLst/>
              <a:gdLst/>
              <a:ahLst/>
              <a:cxnLst/>
              <a:rect l="l" t="t" r="r" b="b"/>
              <a:pathLst>
                <a:path w="4274726" h="2167467">
                  <a:moveTo>
                    <a:pt x="0" y="0"/>
                  </a:moveTo>
                  <a:lnTo>
                    <a:pt x="4274726" y="0"/>
                  </a:lnTo>
                  <a:lnTo>
                    <a:pt x="4274726" y="2167467"/>
                  </a:lnTo>
                  <a:lnTo>
                    <a:pt x="0" y="2167467"/>
                  </a:lnTo>
                  <a:close/>
                </a:path>
              </a:pathLst>
            </a:custGeom>
            <a:solidFill>
              <a:srgbClr val="000000">
                <a:alpha val="0"/>
              </a:srgbClr>
            </a:solidFill>
            <a:ln w="19050" cap="sq">
              <a:solidFill>
                <a:srgbClr val="000000"/>
              </a:solidFill>
              <a:prstDash val="solid"/>
              <a:miter/>
            </a:ln>
          </p:spPr>
        </p:sp>
        <p:sp>
          <p:nvSpPr>
            <p:cNvPr id="4" name="TextBox 4"/>
            <p:cNvSpPr txBox="1"/>
            <p:nvPr/>
          </p:nvSpPr>
          <p:spPr>
            <a:xfrm>
              <a:off x="0" y="-38100"/>
              <a:ext cx="4274726" cy="2205567"/>
            </a:xfrm>
            <a:prstGeom prst="rect">
              <a:avLst/>
            </a:prstGeom>
          </p:spPr>
          <p:txBody>
            <a:bodyPr lIns="50800" tIns="50800" rIns="50800" bIns="50800" rtlCol="0" anchor="ctr"/>
            <a:lstStyle/>
            <a:p>
              <a:pPr algn="ctr">
                <a:lnSpc>
                  <a:spcPts val="2659"/>
                </a:lnSpc>
                <a:spcBef>
                  <a:spcPct val="0"/>
                </a:spcBef>
              </a:pPr>
              <a:endParaRPr/>
            </a:p>
          </p:txBody>
        </p:sp>
      </p:grpSp>
      <p:sp>
        <p:nvSpPr>
          <p:cNvPr id="5" name="AutoShape 5"/>
          <p:cNvSpPr/>
          <p:nvPr/>
        </p:nvSpPr>
        <p:spPr>
          <a:xfrm>
            <a:off x="1028700" y="8564065"/>
            <a:ext cx="16225683" cy="0"/>
          </a:xfrm>
          <a:prstGeom prst="line">
            <a:avLst/>
          </a:prstGeom>
          <a:ln w="19050" cap="flat">
            <a:solidFill>
              <a:srgbClr val="000000"/>
            </a:solidFill>
            <a:prstDash val="solid"/>
            <a:headEnd type="none" w="sm" len="sm"/>
            <a:tailEnd type="none" w="sm" len="sm"/>
          </a:ln>
        </p:spPr>
      </p:sp>
      <p:sp>
        <p:nvSpPr>
          <p:cNvPr id="8" name="TextBox 8"/>
          <p:cNvSpPr txBox="1"/>
          <p:nvPr/>
        </p:nvSpPr>
        <p:spPr>
          <a:xfrm>
            <a:off x="1702419" y="8724335"/>
            <a:ext cx="3988030" cy="306678"/>
          </a:xfrm>
          <a:prstGeom prst="rect">
            <a:avLst/>
          </a:prstGeom>
        </p:spPr>
        <p:txBody>
          <a:bodyPr lIns="0" tIns="0" rIns="0" bIns="0" rtlCol="0" anchor="t">
            <a:spAutoFit/>
          </a:bodyPr>
          <a:lstStyle/>
          <a:p>
            <a:pPr algn="l">
              <a:lnSpc>
                <a:spcPts val="2520"/>
              </a:lnSpc>
              <a:spcBef>
                <a:spcPct val="0"/>
              </a:spcBef>
            </a:pPr>
            <a:r>
              <a:rPr lang="en-US" sz="1800" spc="118">
                <a:solidFill>
                  <a:srgbClr val="000000"/>
                </a:solidFill>
                <a:latin typeface="Lustria"/>
                <a:ea typeface="Lustria"/>
                <a:cs typeface="Lustria"/>
                <a:sym typeface="Lustria"/>
              </a:rPr>
              <a:t>PAGE 11</a:t>
            </a:r>
          </a:p>
        </p:txBody>
      </p:sp>
      <p:sp>
        <p:nvSpPr>
          <p:cNvPr id="11" name="ZoneTexte 10">
            <a:extLst>
              <a:ext uri="{FF2B5EF4-FFF2-40B4-BE49-F238E27FC236}">
                <a16:creationId xmlns:a16="http://schemas.microsoft.com/office/drawing/2014/main" id="{6FBA0037-DC30-EC45-C467-DEFEDDF6FC77}"/>
              </a:ext>
            </a:extLst>
          </p:cNvPr>
          <p:cNvSpPr txBox="1"/>
          <p:nvPr/>
        </p:nvSpPr>
        <p:spPr>
          <a:xfrm>
            <a:off x="1524000" y="1700074"/>
            <a:ext cx="9144000" cy="769441"/>
          </a:xfrm>
          <a:prstGeom prst="rect">
            <a:avLst/>
          </a:prstGeom>
          <a:noFill/>
        </p:spPr>
        <p:txBody>
          <a:bodyPr wrap="square">
            <a:spAutoFit/>
          </a:bodyPr>
          <a:lstStyle/>
          <a:p>
            <a:r>
              <a:rPr lang="fr-FR" sz="4400" b="1" i="1" dirty="0">
                <a:solidFill>
                  <a:schemeClr val="tx2">
                    <a:lumMod val="75000"/>
                  </a:schemeClr>
                </a:solidFill>
                <a:latin typeface="Georgia" panose="02040502050405020303" pitchFamily="18" charset="0"/>
              </a:rPr>
              <a:t>CONCLUSION:</a:t>
            </a:r>
          </a:p>
        </p:txBody>
      </p:sp>
      <p:sp>
        <p:nvSpPr>
          <p:cNvPr id="12" name="Rectangle 1">
            <a:extLst>
              <a:ext uri="{FF2B5EF4-FFF2-40B4-BE49-F238E27FC236}">
                <a16:creationId xmlns:a16="http://schemas.microsoft.com/office/drawing/2014/main" id="{F7052160-00C7-0FA1-EB4F-249EA311B45E}"/>
              </a:ext>
            </a:extLst>
          </p:cNvPr>
          <p:cNvSpPr>
            <a:spLocks noChangeArrowheads="1"/>
          </p:cNvSpPr>
          <p:nvPr/>
        </p:nvSpPr>
        <p:spPr bwMode="auto">
          <a:xfrm>
            <a:off x="2209800" y="3182779"/>
            <a:ext cx="1341120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fr-FR" sz="3200" dirty="0"/>
              <a:t>En conclusion, </a:t>
            </a:r>
            <a:r>
              <a:rPr lang="fr-FR" sz="3200" dirty="0" err="1"/>
              <a:t>TechStore</a:t>
            </a:r>
            <a:r>
              <a:rPr lang="fr-FR" sz="3200" dirty="0"/>
              <a:t> Dashboard m’a permis de maîtriser la création d’une SPA interactive, de gérer des produits avec le CRUD, d’intégrer une API externe, et de visualiser des KPI. Ce projet constitue une excellente base pour le développement web professionnel et la préparation aux </a:t>
            </a:r>
            <a:r>
              <a:rPr lang="fr-FR" sz="3200" dirty="0" err="1"/>
              <a:t>frameworks</a:t>
            </a:r>
            <a:r>
              <a:rPr lang="fr-FR" sz="3200" dirty="0"/>
              <a:t> modernes.</a:t>
            </a:r>
          </a:p>
          <a:p>
            <a:pPr lvl="0" eaLnBrk="0" fontAlgn="base" hangingPunct="0">
              <a:spcBef>
                <a:spcPct val="0"/>
              </a:spcBef>
              <a:spcAft>
                <a:spcPct val="0"/>
              </a:spcAft>
            </a:pPr>
            <a:endParaRPr kumimoji="0" lang="fr-FR" altLang="fr-FR" sz="3200" b="0" i="0" u="none" strike="noStrike" cap="none" normalizeH="0" baseline="0" dirty="0">
              <a:ln>
                <a:noFill/>
              </a:ln>
              <a:solidFill>
                <a:schemeClr val="tx1"/>
              </a:solidFill>
              <a:effectLst/>
              <a:latin typeface="Georgia" panose="02040502050405020303" pitchFamily="18" charset="0"/>
            </a:endParaRPr>
          </a:p>
          <a:p>
            <a:pPr marL="0" marR="0" lvl="0" indent="0" algn="justLow" defTabSz="914400" rtl="0" eaLnBrk="0" fontAlgn="base" latinLnBrk="0" hangingPunct="0">
              <a:lnSpc>
                <a:spcPct val="100000"/>
              </a:lnSpc>
              <a:spcBef>
                <a:spcPct val="0"/>
              </a:spcBef>
              <a:spcAft>
                <a:spcPct val="0"/>
              </a:spcAft>
              <a:buClrTx/>
              <a:buSzTx/>
              <a:buFontTx/>
              <a:buChar char="•"/>
              <a:tabLst/>
            </a:pPr>
            <a:r>
              <a:rPr kumimoji="0" lang="fr-FR" altLang="fr-FR" sz="3200" b="0" i="0" u="none" strike="noStrike" cap="none" normalizeH="0" baseline="0" dirty="0">
                <a:ln>
                  <a:noFill/>
                </a:ln>
                <a:solidFill>
                  <a:schemeClr val="tx1"/>
                </a:solidFill>
                <a:effectLst/>
                <a:latin typeface="Georgia" panose="02040502050405020303" pitchFamily="18" charset="0"/>
              </a:rPr>
              <a:t>Projet complet pour apprendre le </a:t>
            </a:r>
            <a:r>
              <a:rPr kumimoji="0" lang="fr-FR" altLang="fr-FR" sz="3200" b="1" i="0" u="none" strike="noStrike" cap="none" normalizeH="0" baseline="0" dirty="0">
                <a:ln>
                  <a:noFill/>
                </a:ln>
                <a:solidFill>
                  <a:schemeClr val="tx1"/>
                </a:solidFill>
                <a:effectLst/>
                <a:latin typeface="Georgia" panose="02040502050405020303" pitchFamily="18" charset="0"/>
              </a:rPr>
              <a:t>développement </a:t>
            </a:r>
            <a:r>
              <a:rPr kumimoji="0" lang="fr-FR" altLang="fr-FR" sz="3200" b="1" i="0" u="none" strike="noStrike" cap="none" normalizeH="0" baseline="0" dirty="0" err="1">
                <a:ln>
                  <a:noFill/>
                </a:ln>
                <a:solidFill>
                  <a:schemeClr val="tx1"/>
                </a:solidFill>
                <a:effectLst/>
                <a:latin typeface="Georgia" panose="02040502050405020303" pitchFamily="18" charset="0"/>
              </a:rPr>
              <a:t>Front-End</a:t>
            </a:r>
            <a:endParaRPr kumimoji="0" lang="fr-FR" altLang="fr-FR" sz="3200" b="0" i="0" u="none" strike="noStrike" cap="none" normalizeH="0" baseline="0" dirty="0">
              <a:ln>
                <a:noFill/>
              </a:ln>
              <a:solidFill>
                <a:schemeClr val="tx1"/>
              </a:solidFill>
              <a:effectLst/>
              <a:latin typeface="Georgia" panose="02040502050405020303" pitchFamily="18" charset="0"/>
            </a:endParaRPr>
          </a:p>
          <a:p>
            <a:pPr marL="0" marR="0" lvl="0" indent="0" algn="justLow" defTabSz="914400" rtl="0" eaLnBrk="0" fontAlgn="base" latinLnBrk="0" hangingPunct="0">
              <a:lnSpc>
                <a:spcPct val="100000"/>
              </a:lnSpc>
              <a:spcBef>
                <a:spcPct val="0"/>
              </a:spcBef>
              <a:spcAft>
                <a:spcPct val="0"/>
              </a:spcAft>
              <a:buClrTx/>
              <a:buSzTx/>
              <a:buFontTx/>
              <a:buChar char="•"/>
              <a:tabLst/>
            </a:pPr>
            <a:r>
              <a:rPr kumimoji="0" lang="fr-FR" altLang="fr-FR" sz="3200" b="0" i="0" u="none" strike="noStrike" cap="none" normalizeH="0" baseline="0" dirty="0">
                <a:ln>
                  <a:noFill/>
                </a:ln>
                <a:solidFill>
                  <a:schemeClr val="tx1"/>
                </a:solidFill>
                <a:effectLst/>
                <a:latin typeface="Georgia" panose="02040502050405020303" pitchFamily="18" charset="0"/>
              </a:rPr>
              <a:t>Maîtrise du DOM, </a:t>
            </a:r>
            <a:r>
              <a:rPr kumimoji="0" lang="fr-FR" altLang="fr-FR" sz="3200" b="0" i="0" u="none" strike="noStrike" cap="none" normalizeH="0" baseline="0" dirty="0" err="1">
                <a:ln>
                  <a:noFill/>
                </a:ln>
                <a:solidFill>
                  <a:schemeClr val="tx1"/>
                </a:solidFill>
                <a:effectLst/>
                <a:latin typeface="Georgia" panose="02040502050405020303" pitchFamily="18" charset="0"/>
              </a:rPr>
              <a:t>fetch</a:t>
            </a:r>
            <a:r>
              <a:rPr kumimoji="0" lang="fr-FR" altLang="fr-FR" sz="3200" b="0" i="0" u="none" strike="noStrike" cap="none" normalizeH="0" baseline="0" dirty="0">
                <a:ln>
                  <a:noFill/>
                </a:ln>
                <a:solidFill>
                  <a:schemeClr val="tx1"/>
                </a:solidFill>
                <a:effectLst/>
                <a:latin typeface="Georgia" panose="02040502050405020303" pitchFamily="18" charset="0"/>
              </a:rPr>
              <a:t> API et CRUD</a:t>
            </a:r>
          </a:p>
          <a:p>
            <a:pPr marL="0" marR="0" lvl="0" indent="0" algn="justLow" defTabSz="914400" rtl="0" eaLnBrk="0" fontAlgn="base" latinLnBrk="0" hangingPunct="0">
              <a:lnSpc>
                <a:spcPct val="100000"/>
              </a:lnSpc>
              <a:spcBef>
                <a:spcPct val="0"/>
              </a:spcBef>
              <a:spcAft>
                <a:spcPct val="0"/>
              </a:spcAft>
              <a:buClrTx/>
              <a:buSzTx/>
              <a:buFontTx/>
              <a:buChar char="•"/>
              <a:tabLst/>
            </a:pPr>
            <a:r>
              <a:rPr kumimoji="0" lang="fr-FR" altLang="fr-FR" sz="3200" b="0" i="0" u="none" strike="noStrike" cap="none" normalizeH="0" baseline="0" dirty="0">
                <a:ln>
                  <a:noFill/>
                </a:ln>
                <a:solidFill>
                  <a:schemeClr val="tx1"/>
                </a:solidFill>
                <a:effectLst/>
                <a:latin typeface="Georgia" panose="02040502050405020303" pitchFamily="18" charset="0"/>
              </a:rPr>
              <a:t>Première expérience de </a:t>
            </a:r>
            <a:r>
              <a:rPr kumimoji="0" lang="fr-FR" altLang="fr-FR" sz="3200" b="0" i="0" u="none" strike="noStrike" cap="none" normalizeH="0" baseline="0" dirty="0" err="1">
                <a:ln>
                  <a:noFill/>
                </a:ln>
                <a:solidFill>
                  <a:schemeClr val="tx1"/>
                </a:solidFill>
                <a:effectLst/>
                <a:latin typeface="Georgia" panose="02040502050405020303" pitchFamily="18" charset="0"/>
              </a:rPr>
              <a:t>dashboard</a:t>
            </a:r>
            <a:r>
              <a:rPr kumimoji="0" lang="fr-FR" altLang="fr-FR" sz="3200" b="0" i="0" u="none" strike="noStrike" cap="none" normalizeH="0" baseline="0" dirty="0">
                <a:ln>
                  <a:noFill/>
                </a:ln>
                <a:solidFill>
                  <a:schemeClr val="tx1"/>
                </a:solidFill>
                <a:effectLst/>
                <a:latin typeface="Georgia" panose="02040502050405020303" pitchFamily="18" charset="0"/>
              </a:rPr>
              <a:t> interactif</a:t>
            </a:r>
          </a:p>
          <a:p>
            <a:pPr marL="0" marR="0" lvl="0" indent="0" algn="justLow" defTabSz="914400" rtl="0" eaLnBrk="0" fontAlgn="base" latinLnBrk="0" hangingPunct="0">
              <a:lnSpc>
                <a:spcPct val="100000"/>
              </a:lnSpc>
              <a:spcBef>
                <a:spcPct val="0"/>
              </a:spcBef>
              <a:spcAft>
                <a:spcPct val="0"/>
              </a:spcAft>
              <a:buClrTx/>
              <a:buSzTx/>
              <a:buFontTx/>
              <a:buChar char="•"/>
              <a:tabLst/>
            </a:pPr>
            <a:r>
              <a:rPr kumimoji="0" lang="fr-FR" altLang="fr-FR" sz="3200" b="0" i="0" u="none" strike="noStrike" cap="none" normalizeH="0" baseline="0" dirty="0">
                <a:ln>
                  <a:noFill/>
                </a:ln>
                <a:solidFill>
                  <a:schemeClr val="tx1"/>
                </a:solidFill>
                <a:effectLst/>
                <a:latin typeface="Georgia" panose="02040502050405020303" pitchFamily="18" charset="0"/>
              </a:rPr>
              <a:t>Préparation idéale pour l’apprentissage des </a:t>
            </a:r>
            <a:r>
              <a:rPr kumimoji="0" lang="fr-FR" altLang="fr-FR" sz="3200" b="0" i="0" u="none" strike="noStrike" cap="none" normalizeH="0" baseline="0" dirty="0" err="1">
                <a:ln>
                  <a:noFill/>
                </a:ln>
                <a:solidFill>
                  <a:schemeClr val="tx1"/>
                </a:solidFill>
                <a:effectLst/>
                <a:latin typeface="Georgia" panose="02040502050405020303" pitchFamily="18" charset="0"/>
              </a:rPr>
              <a:t>frameworks</a:t>
            </a:r>
            <a:r>
              <a:rPr kumimoji="0" lang="fr-FR" altLang="fr-FR" sz="3200" b="0" i="0" u="none" strike="noStrike" cap="none" normalizeH="0" baseline="0" dirty="0">
                <a:ln>
                  <a:noFill/>
                </a:ln>
                <a:solidFill>
                  <a:schemeClr val="tx1"/>
                </a:solidFill>
                <a:effectLst/>
                <a:latin typeface="Georgia" panose="02040502050405020303" pitchFamily="18" charset="0"/>
              </a:rPr>
              <a:t> modernes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9F5"/>
        </a:solidFill>
        <a:effectLst/>
      </p:bgPr>
    </p:bg>
    <p:spTree>
      <p:nvGrpSpPr>
        <p:cNvPr id="1" name=""/>
        <p:cNvGrpSpPr/>
        <p:nvPr/>
      </p:nvGrpSpPr>
      <p:grpSpPr>
        <a:xfrm>
          <a:off x="0" y="0"/>
          <a:ext cx="0" cy="0"/>
          <a:chOff x="0" y="0"/>
          <a:chExt cx="0" cy="0"/>
        </a:xfrm>
      </p:grpSpPr>
      <p:sp>
        <p:nvSpPr>
          <p:cNvPr id="10" name="ZoneTexte 9">
            <a:extLst>
              <a:ext uri="{FF2B5EF4-FFF2-40B4-BE49-F238E27FC236}">
                <a16:creationId xmlns:a16="http://schemas.microsoft.com/office/drawing/2014/main" id="{24FEF13C-2A5D-569F-0152-83D7100F3FD5}"/>
              </a:ext>
            </a:extLst>
          </p:cNvPr>
          <p:cNvSpPr txBox="1"/>
          <p:nvPr/>
        </p:nvSpPr>
        <p:spPr>
          <a:xfrm>
            <a:off x="762000" y="342900"/>
            <a:ext cx="14935200" cy="769441"/>
          </a:xfrm>
          <a:prstGeom prst="rect">
            <a:avLst/>
          </a:prstGeom>
          <a:noFill/>
        </p:spPr>
        <p:txBody>
          <a:bodyPr wrap="square">
            <a:spAutoFit/>
          </a:bodyPr>
          <a:lstStyle/>
          <a:p>
            <a:r>
              <a:rPr lang="fr-FR" sz="4400" b="1" i="1" dirty="0">
                <a:solidFill>
                  <a:schemeClr val="tx2">
                    <a:lumMod val="75000"/>
                  </a:schemeClr>
                </a:solidFill>
                <a:latin typeface="Georgia" panose="02040502050405020303" pitchFamily="18" charset="0"/>
              </a:rPr>
              <a:t>DÉMONSTRATION / CAPTURES D’ÉCRAN:</a:t>
            </a:r>
          </a:p>
        </p:txBody>
      </p:sp>
      <p:pic>
        <p:nvPicPr>
          <p:cNvPr id="12" name="Image 11">
            <a:extLst>
              <a:ext uri="{FF2B5EF4-FFF2-40B4-BE49-F238E27FC236}">
                <a16:creationId xmlns:a16="http://schemas.microsoft.com/office/drawing/2014/main" id="{959646FD-5C0D-530F-0C55-5C95FA714630}"/>
              </a:ext>
            </a:extLst>
          </p:cNvPr>
          <p:cNvPicPr>
            <a:picLocks noChangeAspect="1"/>
          </p:cNvPicPr>
          <p:nvPr/>
        </p:nvPicPr>
        <p:blipFill>
          <a:blip r:embed="rId2"/>
          <a:stretch>
            <a:fillRect/>
          </a:stretch>
        </p:blipFill>
        <p:spPr>
          <a:xfrm>
            <a:off x="152400" y="1112341"/>
            <a:ext cx="8763000" cy="5629275"/>
          </a:xfrm>
          <a:prstGeom prst="rect">
            <a:avLst/>
          </a:prstGeom>
        </p:spPr>
      </p:pic>
      <p:pic>
        <p:nvPicPr>
          <p:cNvPr id="14" name="Image 13">
            <a:extLst>
              <a:ext uri="{FF2B5EF4-FFF2-40B4-BE49-F238E27FC236}">
                <a16:creationId xmlns:a16="http://schemas.microsoft.com/office/drawing/2014/main" id="{3BB89996-58E2-0567-0AB3-3B38D86D3699}"/>
              </a:ext>
            </a:extLst>
          </p:cNvPr>
          <p:cNvPicPr>
            <a:picLocks noChangeAspect="1"/>
          </p:cNvPicPr>
          <p:nvPr/>
        </p:nvPicPr>
        <p:blipFill>
          <a:blip r:embed="rId3"/>
          <a:stretch>
            <a:fillRect/>
          </a:stretch>
        </p:blipFill>
        <p:spPr>
          <a:xfrm>
            <a:off x="9342122" y="2857500"/>
            <a:ext cx="8229600" cy="7239000"/>
          </a:xfrm>
          <a:prstGeom prst="rect">
            <a:avLst/>
          </a:prstGeom>
        </p:spPr>
      </p:pic>
      <p:sp>
        <p:nvSpPr>
          <p:cNvPr id="15" name="ZoneTexte 14">
            <a:extLst>
              <a:ext uri="{FF2B5EF4-FFF2-40B4-BE49-F238E27FC236}">
                <a16:creationId xmlns:a16="http://schemas.microsoft.com/office/drawing/2014/main" id="{33CD0E91-6AB0-A629-D53F-452A79EE64E4}"/>
              </a:ext>
            </a:extLst>
          </p:cNvPr>
          <p:cNvSpPr txBox="1"/>
          <p:nvPr/>
        </p:nvSpPr>
        <p:spPr>
          <a:xfrm>
            <a:off x="9342122" y="2095500"/>
            <a:ext cx="7498078" cy="523220"/>
          </a:xfrm>
          <a:prstGeom prst="rect">
            <a:avLst/>
          </a:prstGeom>
          <a:noFill/>
        </p:spPr>
        <p:txBody>
          <a:bodyPr wrap="square" rtlCol="0">
            <a:spAutoFit/>
          </a:bodyPr>
          <a:lstStyle/>
          <a:p>
            <a:r>
              <a:rPr lang="fr-FR" sz="2800" b="1" i="1" dirty="0">
                <a:solidFill>
                  <a:schemeClr val="accent1">
                    <a:lumMod val="75000"/>
                  </a:schemeClr>
                </a:solidFill>
                <a:latin typeface="Georgia" panose="02040502050405020303" pitchFamily="18" charset="0"/>
              </a:rPr>
              <a:t>Recherche d’ un produit gold:</a:t>
            </a:r>
          </a:p>
        </p:txBody>
      </p:sp>
      <p:sp>
        <p:nvSpPr>
          <p:cNvPr id="16" name="ZoneTexte 15">
            <a:extLst>
              <a:ext uri="{FF2B5EF4-FFF2-40B4-BE49-F238E27FC236}">
                <a16:creationId xmlns:a16="http://schemas.microsoft.com/office/drawing/2014/main" id="{DDCED89F-2144-A01A-FAFA-3B4E3D2F35E1}"/>
              </a:ext>
            </a:extLst>
          </p:cNvPr>
          <p:cNvSpPr txBox="1"/>
          <p:nvPr/>
        </p:nvSpPr>
        <p:spPr>
          <a:xfrm>
            <a:off x="381000" y="7124700"/>
            <a:ext cx="7498078" cy="523220"/>
          </a:xfrm>
          <a:prstGeom prst="rect">
            <a:avLst/>
          </a:prstGeom>
          <a:noFill/>
        </p:spPr>
        <p:txBody>
          <a:bodyPr wrap="square" rtlCol="0">
            <a:spAutoFit/>
          </a:bodyPr>
          <a:lstStyle/>
          <a:p>
            <a:r>
              <a:rPr lang="fr-FR" sz="2800" b="1" i="1" dirty="0" err="1">
                <a:solidFill>
                  <a:schemeClr val="accent1">
                    <a:lumMod val="75000"/>
                  </a:schemeClr>
                </a:solidFill>
                <a:latin typeface="Georgia" panose="02040502050405020303" pitchFamily="18" charset="0"/>
              </a:rPr>
              <a:t>Kpi</a:t>
            </a:r>
            <a:r>
              <a:rPr lang="fr-FR" sz="2800" b="1" i="1" dirty="0">
                <a:solidFill>
                  <a:schemeClr val="accent1">
                    <a:lumMod val="75000"/>
                  </a:schemeClr>
                </a:solidFill>
                <a:latin typeface="Georgia" panose="02040502050405020303" pitchFamily="18" charset="0"/>
              </a:rPr>
              <a:t> </a:t>
            </a:r>
            <a:r>
              <a:rPr lang="fr-FR" sz="2800" b="1" i="1" dirty="0" err="1">
                <a:solidFill>
                  <a:schemeClr val="accent1">
                    <a:lumMod val="75000"/>
                  </a:schemeClr>
                </a:solidFill>
                <a:latin typeface="Georgia" panose="02040502050405020303" pitchFamily="18" charset="0"/>
              </a:rPr>
              <a:t>overview</a:t>
            </a:r>
            <a:r>
              <a:rPr lang="fr-FR" sz="2800" b="1" i="1" dirty="0">
                <a:solidFill>
                  <a:schemeClr val="accent1">
                    <a:lumMod val="75000"/>
                  </a:schemeClr>
                </a:solidFill>
                <a:latin typeface="Georgia" panose="02040502050405020303" pitchFamily="18" charset="0"/>
              </a:rPr>
              <a:t> / visiteurs &amp; acheteurs: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9F5"/>
        </a:solidFill>
        <a:effectLst/>
      </p:bgPr>
    </p:bg>
    <p:spTree>
      <p:nvGrpSpPr>
        <p:cNvPr id="1" name="">
          <a:extLst>
            <a:ext uri="{FF2B5EF4-FFF2-40B4-BE49-F238E27FC236}">
              <a16:creationId xmlns:a16="http://schemas.microsoft.com/office/drawing/2014/main" id="{BDFBF87D-529E-D430-F02E-41D0866F8439}"/>
            </a:ext>
          </a:extLst>
        </p:cNvPr>
        <p:cNvGrpSpPr/>
        <p:nvPr/>
      </p:nvGrpSpPr>
      <p:grpSpPr>
        <a:xfrm>
          <a:off x="0" y="0"/>
          <a:ext cx="0" cy="0"/>
          <a:chOff x="0" y="0"/>
          <a:chExt cx="0" cy="0"/>
        </a:xfrm>
      </p:grpSpPr>
      <p:sp>
        <p:nvSpPr>
          <p:cNvPr id="10" name="ZoneTexte 9">
            <a:extLst>
              <a:ext uri="{FF2B5EF4-FFF2-40B4-BE49-F238E27FC236}">
                <a16:creationId xmlns:a16="http://schemas.microsoft.com/office/drawing/2014/main" id="{C05AFD41-22C5-3039-FA5E-5A72E6231EF2}"/>
              </a:ext>
            </a:extLst>
          </p:cNvPr>
          <p:cNvSpPr txBox="1"/>
          <p:nvPr/>
        </p:nvSpPr>
        <p:spPr>
          <a:xfrm>
            <a:off x="3810000" y="4412159"/>
            <a:ext cx="11582400" cy="769441"/>
          </a:xfrm>
          <a:prstGeom prst="rect">
            <a:avLst/>
          </a:prstGeom>
          <a:noFill/>
        </p:spPr>
        <p:txBody>
          <a:bodyPr wrap="square">
            <a:spAutoFit/>
          </a:bodyPr>
          <a:lstStyle/>
          <a:p>
            <a:r>
              <a:rPr lang="fr-FR" sz="4400" b="1" i="1" spc="600" dirty="0">
                <a:solidFill>
                  <a:schemeClr val="tx2">
                    <a:lumMod val="75000"/>
                  </a:schemeClr>
                </a:solidFill>
                <a:latin typeface="Book Antiqua" panose="02040602050305030304" pitchFamily="18" charset="0"/>
              </a:rPr>
              <a:t>Merci Pour Votre Attention.</a:t>
            </a:r>
          </a:p>
        </p:txBody>
      </p:sp>
    </p:spTree>
    <p:extLst>
      <p:ext uri="{BB962C8B-B14F-4D97-AF65-F5344CB8AC3E}">
        <p14:creationId xmlns:p14="http://schemas.microsoft.com/office/powerpoint/2010/main" val="1213010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2028</TotalTime>
  <Words>708</Words>
  <Application>Microsoft Office PowerPoint</Application>
  <PresentationFormat>Personnalisé</PresentationFormat>
  <Paragraphs>113</Paragraphs>
  <Slides>12</Slides>
  <Notes>0</Notes>
  <HiddenSlides>0</HiddenSlides>
  <MMClips>0</MMClips>
  <ScaleCrop>false</ScaleCrop>
  <HeadingPairs>
    <vt:vector size="6" baseType="variant">
      <vt:variant>
        <vt:lpstr>Polices utilisées</vt:lpstr>
      </vt:variant>
      <vt:variant>
        <vt:i4>8</vt:i4>
      </vt:variant>
      <vt:variant>
        <vt:lpstr>Thème</vt:lpstr>
      </vt:variant>
      <vt:variant>
        <vt:i4>1</vt:i4>
      </vt:variant>
      <vt:variant>
        <vt:lpstr>Titres des diapositives</vt:lpstr>
      </vt:variant>
      <vt:variant>
        <vt:i4>12</vt:i4>
      </vt:variant>
    </vt:vector>
  </HeadingPairs>
  <TitlesOfParts>
    <vt:vector size="21" baseType="lpstr">
      <vt:lpstr>Lucida Bright</vt:lpstr>
      <vt:lpstr>Inria Serif</vt:lpstr>
      <vt:lpstr>Book Antiqua</vt:lpstr>
      <vt:lpstr>Calibri</vt:lpstr>
      <vt:lpstr>Moontime</vt:lpstr>
      <vt:lpstr>Arial</vt:lpstr>
      <vt:lpstr>Lustria</vt:lpstr>
      <vt:lpstr>Georgia</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12/25/2025</dc:title>
  <dc:creator>HP</dc:creator>
  <cp:lastModifiedBy>sara mounib</cp:lastModifiedBy>
  <cp:revision>3</cp:revision>
  <dcterms:created xsi:type="dcterms:W3CDTF">2006-08-16T00:00:00Z</dcterms:created>
  <dcterms:modified xsi:type="dcterms:W3CDTF">2026-01-03T23:37:28Z</dcterms:modified>
  <dc:identifier>DAG8jiIcM9c</dc:identifier>
</cp:coreProperties>
</file>